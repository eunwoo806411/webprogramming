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210 네버랜드 Bold" panose="020B0600000101010101" charset="-127"/>
      <p:regular r:id="rId21"/>
    </p:embeddedFont>
    <p:embeddedFont>
      <p:font typeface="210 밀레니얼" panose="020B0600000101010101" charset="-127"/>
      <p:regular r:id="rId22"/>
    </p:embeddedFont>
    <p:embeddedFont>
      <p:font typeface="Source Han Sans KR" panose="020B0600000101010101" charset="-127"/>
      <p:regular r:id="rId23"/>
    </p:embeddedFont>
    <p:embeddedFont>
      <p:font typeface="Tlab 레트로라이프" panose="020B0600000101010101" charset="-127"/>
      <p:regular r:id="rId24"/>
    </p:embeddedFont>
    <p:embeddedFont>
      <p:font typeface="Tlab 레트로라이프 Bold" panose="020B0600000101010101" charset="-127"/>
      <p:regular r:id="rId25"/>
    </p:embeddedFont>
    <p:embeddedFont>
      <p:font typeface="Arimo" panose="020B0600000101010101" charset="0"/>
      <p:regular r:id="rId26"/>
    </p:embeddedFont>
    <p:embeddedFont>
      <p:font typeface="Arimo Bold" panose="020B0600000101010101" charset="0"/>
      <p:regular r:id="rId27"/>
    </p:embeddedFont>
    <p:embeddedFont>
      <p:font typeface="Canva Sans Bold" panose="020B0600000101010101" charset="0"/>
      <p:regular r:id="rId28"/>
    </p:embeddedFont>
    <p:embeddedFont>
      <p:font typeface="TT Commons Pro Bold" panose="020B0600000101010101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2687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메인페이지는 상단 시간 필터, 지도, 왼쪽 사진 목록으로 구성됩니다. 지도와 목록은 동일한 기간 필터 결과를 이용합니다. 목록에만 지도 영역과 10장 단위 표시 제한이 추가됩니다.</a:t>
            </a:r>
          </a:p>
          <a:p>
            <a:endParaRPr lang="en-US"/>
          </a:p>
          <a:p>
            <a:r>
              <a:rPr lang="en-US"/>
              <a:t>발표 범위: 메인페이지의 기능과 완성본 설계 방향. 저장 매체나 백엔드 구현 완료 여부를 설명하는 자료가 아닙니다.</a:t>
            </a:r>
          </a:p>
          <a:p>
            <a:r>
              <a:rPr lang="en-US"/>
              <a:t>코드 근거: /Users/zhwii/WebProgramming-1/pages/main/index.html</a:t>
            </a:r>
          </a:p>
          <a:p>
            <a:r>
              <a:rPr lang="en-US"/>
              <a:t>/Users/zhwii/WebProgramming-1/pages/main/main.css</a:t>
            </a:r>
          </a:p>
          <a:p>
            <a:r>
              <a:rPr lang="en-US"/>
              <a:t>/Users/zhwii/WebProgramming-1/pages/main/main.js</a:t>
            </a:r>
          </a:p>
          <a:p>
            <a:r>
              <a:rPr lang="en-US"/>
              <a:t>화면: 2026-10-16 로컬 메인페이지 직접 캡처. 화면의 사진은 데모 이미지이며 실제 캠퍼스 촬영 기록이 아닙니다.</a:t>
            </a:r>
          </a:p>
          <a:p>
            <a:r>
              <a:rPr lang="en-US"/>
              <a:t>디자인 참고: https://www.canva.com/design/DAHWpnUjDzI/kz4kQgXTBUM-cYgOwPbUsg/edit 의 7~13페이지. 남색 제목, 회색 상단 띠, 흰 배경, 번호 표시를 맞췄습니다. 참고 이미지는 1920×1080 디자인의 썸네일입니다. 폰트는 비슷한 인상의 Apple SD Gothic Neo로 구성했습니다. 기존 Canva는 수정하지 않았습니다.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사용자가 날짜 또는 빠른 기간을 선택하면 filterPhotos가 업로드 시각을 기준으로 사진을 추립니다. 같은 결과를 지도와 목록에 함께 반영하도록 설계했습니다. 세부 시간 입력은 날짜·시간 입력과 범위 슬라이더를 사용합니다.</a:t>
            </a:r>
          </a:p>
          <a:p>
            <a:endParaRPr lang="en-US"/>
          </a:p>
          <a:p>
            <a:r>
              <a:rPr lang="en-US"/>
              <a:t>발표 범위: 메인페이지의 기능과 완성본 설계 방향. 저장 매체나 백엔드 구현 완료 여부를 설명하는 자료가 아닙니다.</a:t>
            </a:r>
          </a:p>
          <a:p>
            <a:r>
              <a:rPr lang="en-US"/>
              <a:t>코드 근거: /Users/zhwii/WebProgramming-1/pages/main/time-controls.js</a:t>
            </a:r>
          </a:p>
          <a:p>
            <a:r>
              <a:rPr lang="en-US"/>
              <a:t>/Users/zhwii/WebProgramming-1/shared/js/photo-query.js</a:t>
            </a:r>
          </a:p>
          <a:p>
            <a:r>
              <a:rPr lang="en-US"/>
              <a:t>/Users/zhwii/WebProgramming-1/pages/main/main.js</a:t>
            </a:r>
          </a:p>
          <a:p>
            <a:r>
              <a:rPr lang="en-US"/>
              <a:t>화면: 2026-10-16 로컬 메인페이지 직접 캡처. 화면의 사진은 데모 이미지이며 실제 캠퍼스 촬영 기록이 아닙니다.</a:t>
            </a:r>
          </a:p>
          <a:p>
            <a:r>
              <a:rPr lang="en-US"/>
              <a:t>디자인 참고: https://www.canva.com/design/DAHWpnUjDzI/kz4kQgXTBUM-cYgOwPbUsg/edit 의 7~13페이지. 남색 제목, 회색 상단 띠, 흰 배경, 번호 표시를 맞췄습니다. 참고 이미지는 1920×1080 디자인의 썸네일입니다. 폰트는 비슷한 인상의 Apple SD Gothic Neo로 구성했습니다. 기존 Canva는 수정하지 않았습니다.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지도는 groupByCoordinate로 같은 좌표를 먼저 묶고 화면상 가까운 그룹을 clusterGroups로 묶습니다. 이동이 끝난 뒤 100ms 지연해 마커와 목록을 갱신합니다. 목록은 selectSidebarPhotos에서 지도 경계 또는 선택한 묶음 ID로 추립니다. 선택 묶음 클릭 전과 후의 실제 화면이며, 사진 총수는 데모 상태입니다.</a:t>
            </a:r>
          </a:p>
          <a:p>
            <a:endParaRPr lang="en-US"/>
          </a:p>
          <a:p>
            <a:r>
              <a:rPr lang="en-US"/>
              <a:t>발표 범위: 메인페이지의 기능과 완성본 설계 방향. 저장 매체나 백엔드 구현 완료 여부를 설명하는 자료가 아닙니다.</a:t>
            </a:r>
          </a:p>
          <a:p>
            <a:r>
              <a:rPr lang="en-US"/>
              <a:t>코드 근거: /Users/zhwii/WebProgramming-1/pages/main/map.js</a:t>
            </a:r>
          </a:p>
          <a:p>
            <a:r>
              <a:rPr lang="en-US"/>
              <a:t>/Users/zhwii/WebProgramming-1/pages/main/clusters.js</a:t>
            </a:r>
          </a:p>
          <a:p>
            <a:r>
              <a:rPr lang="en-US"/>
              <a:t>/Users/zhwii/WebProgramming-1/pages/main/sidebar-photos.js</a:t>
            </a:r>
          </a:p>
          <a:p>
            <a:r>
              <a:rPr lang="en-US"/>
              <a:t>/Users/zhwii/WebProgramming-1/pages/main/main.js</a:t>
            </a:r>
          </a:p>
          <a:p>
            <a:r>
              <a:rPr lang="en-US"/>
              <a:t>화면: 2026-10-16 로컬 메인페이지 직접 캡처. 화면의 사진은 데모 이미지이며 실제 캠퍼스 촬영 기록이 아닙니다.</a:t>
            </a:r>
          </a:p>
          <a:p>
            <a:r>
              <a:rPr lang="en-US"/>
              <a:t>디자인 참고: https://www.canva.com/design/DAHWpnUjDzI/kz4kQgXTBUM-cYgOwPbUsg/edit 의 7~13페이지. 남색 제목, 회색 상단 띠, 흰 배경, 번호 표시를 맞췄습니다. 참고 이미지는 1920×1080 디자인의 썸네일입니다. 폰트는 비슷한 인상의 Apple SD Gothic Neo로 구성했습니다. 기존 Canva는 수정하지 않았습니다.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사진 카드를 선택하면 selectedId를 갱신하고 focusPhoto가 좌표로 이동합니다. showPhotoDetail이 ID로 사진 정보를 조회하여 모달을 엽니다. 좋아요 등록과 취소는 로그인 상태를 확인한 뒤 공통 서비스에서 처리하고 수치에 반영하도록 설계합니다.</a:t>
            </a:r>
          </a:p>
          <a:p>
            <a:endParaRPr lang="en-US"/>
          </a:p>
          <a:p>
            <a:r>
              <a:rPr lang="en-US"/>
              <a:t>발표 범위: 메인페이지의 기능과 완성본 설계 방향. 저장 매체나 백엔드 구현 완료 여부를 설명하는 자료가 아닙니다.</a:t>
            </a:r>
          </a:p>
          <a:p>
            <a:r>
              <a:rPr lang="en-US"/>
              <a:t>코드 근거: /Users/zhwii/WebProgramming-1/pages/main/main.js</a:t>
            </a:r>
          </a:p>
          <a:p>
            <a:r>
              <a:rPr lang="en-US"/>
              <a:t>/Users/zhwii/WebProgramming-1/pages/main/map.js</a:t>
            </a:r>
          </a:p>
          <a:p>
            <a:r>
              <a:rPr lang="en-US"/>
              <a:t>/Users/zhwii/WebProgramming-1/shared/js/photo-ui.js</a:t>
            </a:r>
          </a:p>
          <a:p>
            <a:r>
              <a:rPr lang="en-US"/>
              <a:t>/Users/zhwii/WebProgramming-1/shared/js/local-adapter.js</a:t>
            </a:r>
          </a:p>
          <a:p>
            <a:r>
              <a:rPr lang="en-US"/>
              <a:t>화면: 2026-10-16 로컬 메인페이지 직접 캡처. 화면의 사진은 데모 이미지이며 실제 캠퍼스 촬영 기록이 아닙니다.</a:t>
            </a:r>
          </a:p>
          <a:p>
            <a:r>
              <a:rPr lang="en-US"/>
              <a:t>디자인 참고: https://www.canva.com/design/DAHWpnUjDzI/kz4kQgXTBUM-cYgOwPbUsg/edit 의 7~13페이지. 남색 제목, 회색 상단 띠, 흰 배경, 번호 표시를 맞췄습니다. 참고 이미지는 1920×1080 디자인의 썸네일입니다. 폰트는 비슷한 인상의 Apple SD Gothic Neo로 구성했습니다. 기존 Canva는 수정하지 않았습니다.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77544" y="1438414"/>
            <a:ext cx="18651718" cy="18651718"/>
          </a:xfrm>
          <a:custGeom>
            <a:avLst/>
            <a:gdLst/>
            <a:ahLst/>
            <a:cxnLst/>
            <a:rect l="l" t="t" r="r" b="b"/>
            <a:pathLst>
              <a:path w="18651718" h="18651718">
                <a:moveTo>
                  <a:pt x="0" y="0"/>
                </a:moveTo>
                <a:lnTo>
                  <a:pt x="18651718" y="0"/>
                </a:lnTo>
                <a:lnTo>
                  <a:pt x="18651718" y="18651718"/>
                </a:lnTo>
                <a:lnTo>
                  <a:pt x="0" y="1865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13203926" y="7245469"/>
            <a:ext cx="4243266" cy="3182449"/>
          </a:xfrm>
          <a:custGeom>
            <a:avLst/>
            <a:gdLst/>
            <a:ahLst/>
            <a:cxnLst/>
            <a:rect l="l" t="t" r="r" b="b"/>
            <a:pathLst>
              <a:path w="4243266" h="3182449">
                <a:moveTo>
                  <a:pt x="0" y="0"/>
                </a:moveTo>
                <a:lnTo>
                  <a:pt x="4243265" y="0"/>
                </a:lnTo>
                <a:lnTo>
                  <a:pt x="4243265" y="3182450"/>
                </a:lnTo>
                <a:lnTo>
                  <a:pt x="0" y="3182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927331" y="2413794"/>
            <a:ext cx="8333741" cy="1361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22"/>
              </a:lnSpc>
            </a:pPr>
            <a:r>
              <a:rPr lang="en-US" sz="8600" b="1">
                <a:solidFill>
                  <a:srgbClr val="0F148D"/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숭실 한 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27331" y="1668964"/>
            <a:ext cx="805677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spc="422">
                <a:solidFill>
                  <a:srgbClr val="0069F4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SOONGSIL IN A FRAME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27331" y="4137565"/>
            <a:ext cx="3240484" cy="68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100" spc="-63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AI소프트웨어학부 소속</a:t>
            </a:r>
          </a:p>
          <a:p>
            <a:pPr algn="r">
              <a:lnSpc>
                <a:spcPts val="2793"/>
              </a:lnSpc>
            </a:pPr>
            <a:r>
              <a:rPr lang="en-US" sz="2100" spc="-63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정혜원, 정희형, 조경휘, 주은우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67489" y="-2097858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925018"/>
            <a:ext cx="7503210" cy="8436964"/>
            <a:chOff x="0" y="0"/>
            <a:chExt cx="1162444" cy="13071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62444" cy="1307106"/>
            </a:xfrm>
            <a:custGeom>
              <a:avLst/>
              <a:gdLst/>
              <a:ahLst/>
              <a:cxnLst/>
              <a:rect l="l" t="t" r="r" b="b"/>
              <a:pathLst>
                <a:path w="1162444" h="1307106">
                  <a:moveTo>
                    <a:pt x="0" y="0"/>
                  </a:moveTo>
                  <a:lnTo>
                    <a:pt x="1162444" y="0"/>
                  </a:lnTo>
                  <a:lnTo>
                    <a:pt x="1162444" y="1307106"/>
                  </a:lnTo>
                  <a:lnTo>
                    <a:pt x="0" y="1307106"/>
                  </a:lnTo>
                  <a:close/>
                </a:path>
              </a:pathLst>
            </a:custGeom>
            <a:blipFill>
              <a:blip r:embed="rId3"/>
              <a:stretch>
                <a:fillRect l="-6222" r="-622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16690" y="1734097"/>
            <a:ext cx="7737910" cy="6762203"/>
            <a:chOff x="0" y="0"/>
            <a:chExt cx="9950597" cy="8815258"/>
          </a:xfrm>
        </p:grpSpPr>
        <p:sp>
          <p:nvSpPr>
            <p:cNvPr id="6" name="TextBox 6"/>
            <p:cNvSpPr txBox="1"/>
            <p:nvPr/>
          </p:nvSpPr>
          <p:spPr>
            <a:xfrm>
              <a:off x="0" y="1471887"/>
              <a:ext cx="9950597" cy="7343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043"/>
                </a:lnSpc>
              </a:pP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숭실대학교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캠퍼스의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풍경과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일상을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사진으로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기록하고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공유하는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웹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서비스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.</a:t>
              </a:r>
            </a:p>
            <a:p>
              <a:pPr algn="just">
                <a:lnSpc>
                  <a:spcPts val="4043"/>
                </a:lnSpc>
              </a:pPr>
              <a:endParaRPr lang="en-US" sz="2695" spc="-80" dirty="0">
                <a:solidFill>
                  <a:srgbClr val="0F148D"/>
                </a:solidFill>
                <a:latin typeface="Source Han Sans KR"/>
                <a:ea typeface="Source Han Sans KR"/>
                <a:cs typeface="Source Han Sans KR"/>
                <a:sym typeface="Source Han Sans KR"/>
              </a:endParaRPr>
            </a:p>
            <a:p>
              <a:pPr algn="just">
                <a:lnSpc>
                  <a:spcPts val="4043"/>
                </a:lnSpc>
              </a:pP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사용자는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지도에서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촬영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장소를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선택해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사진을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등록하고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,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다른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사람들이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남긴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사진을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보며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좋아요로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상호작용할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수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있습니다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.</a:t>
              </a:r>
            </a:p>
            <a:p>
              <a:pPr algn="just">
                <a:lnSpc>
                  <a:spcPts val="4043"/>
                </a:lnSpc>
              </a:pPr>
              <a:endParaRPr lang="en-US" sz="2695" spc="-80" dirty="0">
                <a:solidFill>
                  <a:srgbClr val="0F148D"/>
                </a:solidFill>
                <a:latin typeface="Source Han Sans KR"/>
                <a:ea typeface="Source Han Sans KR"/>
                <a:cs typeface="Source Han Sans KR"/>
                <a:sym typeface="Source Han Sans KR"/>
              </a:endParaRPr>
            </a:p>
            <a:p>
              <a:pPr algn="just">
                <a:lnSpc>
                  <a:spcPts val="4043"/>
                </a:lnSpc>
              </a:pP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익숙한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캠퍼스에서도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다른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사람이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발견한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풍경을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만나고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,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각자의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추억을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같은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공간에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모을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수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있습니다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.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이를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통해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학생들이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함께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만들어가는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캠퍼스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사진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기록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공간을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제공하게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</a:t>
              </a:r>
              <a:r>
                <a:rPr lang="en-US" sz="2695" spc="-80" dirty="0" err="1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됩니다</a:t>
              </a:r>
              <a:r>
                <a:rPr lang="en-US" sz="2695" spc="-80" dirty="0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029" y="-104775"/>
              <a:ext cx="8305031" cy="1116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숭실 한 장 이란...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35655" y="-2097858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1028700" y="736292"/>
            <a:ext cx="2502527" cy="2502527"/>
          </a:xfrm>
          <a:custGeom>
            <a:avLst/>
            <a:gdLst/>
            <a:ahLst/>
            <a:cxnLst/>
            <a:rect l="l" t="t" r="r" b="b"/>
            <a:pathLst>
              <a:path w="2502527" h="2502527">
                <a:moveTo>
                  <a:pt x="0" y="0"/>
                </a:moveTo>
                <a:lnTo>
                  <a:pt x="2502527" y="0"/>
                </a:lnTo>
                <a:lnTo>
                  <a:pt x="2502527" y="2502527"/>
                </a:lnTo>
                <a:lnTo>
                  <a:pt x="0" y="25025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>
            <a:off x="3202535" y="1587097"/>
            <a:ext cx="3556403" cy="3556403"/>
          </a:xfrm>
          <a:custGeom>
            <a:avLst/>
            <a:gdLst/>
            <a:ahLst/>
            <a:cxnLst/>
            <a:rect l="l" t="t" r="r" b="b"/>
            <a:pathLst>
              <a:path w="3556403" h="3556403">
                <a:moveTo>
                  <a:pt x="0" y="0"/>
                </a:moveTo>
                <a:lnTo>
                  <a:pt x="3556403" y="0"/>
                </a:lnTo>
                <a:lnTo>
                  <a:pt x="3556403" y="3556403"/>
                </a:lnTo>
                <a:lnTo>
                  <a:pt x="0" y="35564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11924647" y="5525330"/>
            <a:ext cx="3602316" cy="3732970"/>
          </a:xfrm>
          <a:custGeom>
            <a:avLst/>
            <a:gdLst/>
            <a:ahLst/>
            <a:cxnLst/>
            <a:rect l="l" t="t" r="r" b="b"/>
            <a:pathLst>
              <a:path w="3602316" h="3732970">
                <a:moveTo>
                  <a:pt x="0" y="0"/>
                </a:moveTo>
                <a:lnTo>
                  <a:pt x="3602317" y="0"/>
                </a:lnTo>
                <a:lnTo>
                  <a:pt x="3602317" y="3732970"/>
                </a:lnTo>
                <a:lnTo>
                  <a:pt x="0" y="37329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7953076" y="2197816"/>
            <a:ext cx="8202932" cy="254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spc="-81">
                <a:solidFill>
                  <a:srgbClr val="0F148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</a:p>
          <a:p>
            <a:pPr algn="l">
              <a:lnSpc>
                <a:spcPts val="4050"/>
              </a:lnSpc>
            </a:pPr>
            <a:r>
              <a:rPr lang="en-US" sz="2700" spc="-81">
                <a:solidFill>
                  <a:srgbClr val="0F148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목적 | 학생들이 직접 기록한 사진을 통해 다양한 캠퍼스의 추억을 공유하며 특정 장소의 과거와 현재 모습을 시간 순서대로 확인하여 추억을 찾아볼 수 있다.</a:t>
            </a:r>
          </a:p>
          <a:p>
            <a:pPr algn="l">
              <a:lnSpc>
                <a:spcPts val="4050"/>
              </a:lnSpc>
            </a:pPr>
            <a:r>
              <a:rPr lang="en-US" sz="2700" spc="-81">
                <a:solidFill>
                  <a:srgbClr val="0F148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92972" y="6713220"/>
            <a:ext cx="8224893" cy="2030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spc="-81">
                <a:solidFill>
                  <a:srgbClr val="0F148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기대효과 | 사진이 지속적으로 축적되면서 학교의 행사, 계절 변화, 일상적인 순간들이 기록되어 숭실대학교만의 시공간 아카이브로 활용될 수 있고, 학생 간 학교생활에 대한 공감과 소속감 형성을 기대할 수 있다.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53076" y="1410416"/>
            <a:ext cx="6228773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ts val="7000"/>
              </a:lnSpc>
              <a:buAutoNum type="arabicPeriod"/>
            </a:pPr>
            <a:r>
              <a:rPr lang="en-US" sz="500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목적 및 기대효과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800725" cy="10287000"/>
            <a:chOff x="0" y="0"/>
            <a:chExt cx="152776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7763" cy="2709333"/>
            </a:xfrm>
            <a:custGeom>
              <a:avLst/>
              <a:gdLst/>
              <a:ahLst/>
              <a:cxnLst/>
              <a:rect l="l" t="t" r="r" b="b"/>
              <a:pathLst>
                <a:path w="1527763" h="2709333">
                  <a:moveTo>
                    <a:pt x="0" y="0"/>
                  </a:moveTo>
                  <a:lnTo>
                    <a:pt x="1527763" y="0"/>
                  </a:lnTo>
                  <a:lnTo>
                    <a:pt x="15277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EF2F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2776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52283" y="1587097"/>
            <a:ext cx="10404819" cy="6818581"/>
            <a:chOff x="0" y="-76200"/>
            <a:chExt cx="13873092" cy="9091442"/>
          </a:xfrm>
        </p:grpSpPr>
        <p:sp>
          <p:nvSpPr>
            <p:cNvPr id="6" name="TextBox 6"/>
            <p:cNvSpPr txBox="1"/>
            <p:nvPr/>
          </p:nvSpPr>
          <p:spPr>
            <a:xfrm>
              <a:off x="5230811" y="-76200"/>
              <a:ext cx="8642281" cy="1846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7369" lvl="1" indent="-268684" algn="l">
                <a:lnSpc>
                  <a:spcPts val="3733"/>
                </a:lnSpc>
                <a:buFont typeface="Arial"/>
                <a:buChar char="•"/>
              </a:pPr>
              <a:r>
                <a:rPr lang="en-US" sz="2488" spc="-74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캠퍼스에서 촬영한 사진을 직접 등록</a:t>
              </a:r>
            </a:p>
            <a:p>
              <a:pPr marL="537369" lvl="1" indent="-268684" algn="l">
                <a:lnSpc>
                  <a:spcPts val="3733"/>
                </a:lnSpc>
                <a:buFont typeface="Arial"/>
                <a:buChar char="•"/>
              </a:pPr>
              <a:r>
                <a:rPr lang="en-US" sz="2488" spc="-74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지도에서 직접 위치를 찍어 등록</a:t>
              </a:r>
            </a:p>
            <a:p>
              <a:pPr marL="537369" lvl="1" indent="-268684" algn="l">
                <a:lnSpc>
                  <a:spcPts val="3733"/>
                </a:lnSpc>
                <a:buFont typeface="Arial"/>
                <a:buChar char="•"/>
              </a:pPr>
              <a:r>
                <a:rPr lang="en-US" sz="2488" spc="-74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사진과 함께 장소/시간 정보 저장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30811" y="4129058"/>
              <a:ext cx="8642281" cy="1214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7369" lvl="1" indent="-268684" algn="l">
                <a:lnSpc>
                  <a:spcPts val="3733"/>
                </a:lnSpc>
                <a:buFont typeface="Arial"/>
                <a:buChar char="•"/>
              </a:pPr>
              <a:r>
                <a:rPr lang="en-US" sz="2488" spc="-74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다른 사용자가 올린 숭실대학교 사진 확인</a:t>
              </a:r>
            </a:p>
            <a:p>
              <a:pPr marL="537369" lvl="1" indent="-268684" algn="l">
                <a:lnSpc>
                  <a:spcPts val="3733"/>
                </a:lnSpc>
                <a:buFont typeface="Arial"/>
                <a:buChar char="•"/>
              </a:pPr>
              <a:r>
                <a:rPr lang="en-US" sz="2488" spc="-74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학교의 풍경/행사/일상을 한눈에 탐색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30811" y="7801085"/>
              <a:ext cx="8642281" cy="1214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7369" lvl="1" indent="-268684" algn="l">
                <a:lnSpc>
                  <a:spcPts val="3733"/>
                </a:lnSpc>
                <a:buFont typeface="Arial"/>
                <a:buChar char="•"/>
              </a:pPr>
              <a:r>
                <a:rPr lang="en-US" sz="2488" spc="-74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최신순 / 인기순으로 사진 정렬</a:t>
              </a:r>
            </a:p>
            <a:p>
              <a:pPr marL="537369" lvl="1" indent="-268684" algn="l">
                <a:lnSpc>
                  <a:spcPts val="3733"/>
                </a:lnSpc>
                <a:buFont typeface="Arial"/>
                <a:buChar char="•"/>
              </a:pPr>
              <a:r>
                <a:rPr lang="en-US" sz="2488" spc="-74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원하는 콘텐츠 편리하게 확인 가능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47944"/>
              <a:ext cx="4820956" cy="11790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466"/>
                </a:lnSpc>
                <a:spcBef>
                  <a:spcPct val="0"/>
                </a:spcBef>
              </a:pPr>
              <a:r>
                <a:rPr lang="en-US" sz="5333" b="1" dirty="0" err="1">
                  <a:solidFill>
                    <a:srgbClr val="0F148D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사진</a:t>
              </a:r>
              <a:r>
                <a:rPr lang="en-US" sz="5333" b="1" dirty="0">
                  <a:solidFill>
                    <a:srgbClr val="0F148D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 </a:t>
              </a:r>
              <a:r>
                <a:rPr lang="en-US" sz="5333" b="1" dirty="0" err="1">
                  <a:solidFill>
                    <a:srgbClr val="0F148D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업로드</a:t>
              </a:r>
              <a:endParaRPr lang="en-US" sz="5333" b="1" dirty="0">
                <a:solidFill>
                  <a:srgbClr val="0F148D"/>
                </a:solidFill>
                <a:latin typeface="TT Commons Pro Bold"/>
                <a:ea typeface="TT Commons Pro Bold"/>
                <a:cs typeface="TT Commons Pro Bold"/>
                <a:sym typeface="TT Commons Pro Bol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09" y="4186619"/>
              <a:ext cx="4038414" cy="1179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466"/>
                </a:lnSpc>
                <a:spcBef>
                  <a:spcPct val="0"/>
                </a:spcBef>
              </a:pPr>
              <a:r>
                <a:rPr lang="en-US" sz="5333" b="1">
                  <a:solidFill>
                    <a:srgbClr val="0F148D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사진 탐색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09" y="7809130"/>
              <a:ext cx="4038414" cy="11719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466"/>
                </a:lnSpc>
                <a:spcBef>
                  <a:spcPct val="0"/>
                </a:spcBef>
              </a:pPr>
              <a:r>
                <a:rPr lang="en-US" sz="5333" b="1">
                  <a:solidFill>
                    <a:srgbClr val="0F148D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정렬 기능</a:t>
              </a:r>
            </a:p>
          </p:txBody>
        </p:sp>
        <p:sp>
          <p:nvSpPr>
            <p:cNvPr id="12" name="AutoShape 12"/>
            <p:cNvSpPr/>
            <p:nvPr/>
          </p:nvSpPr>
          <p:spPr>
            <a:xfrm flipV="1">
              <a:off x="0" y="2962576"/>
              <a:ext cx="13771492" cy="0"/>
            </a:xfrm>
            <a:prstGeom prst="line">
              <a:avLst/>
            </a:prstGeom>
            <a:ln w="25400" cap="flat">
              <a:solidFill>
                <a:srgbClr val="D1DAE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0" y="6584028"/>
              <a:ext cx="13771492" cy="0"/>
            </a:xfrm>
            <a:prstGeom prst="line">
              <a:avLst/>
            </a:prstGeom>
            <a:ln w="25400" cap="flat">
              <a:solidFill>
                <a:srgbClr val="D1DAE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01870" y="849830"/>
            <a:ext cx="3796986" cy="2206747"/>
            <a:chOff x="0" y="-104775"/>
            <a:chExt cx="5062648" cy="2942329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104775"/>
              <a:ext cx="5062648" cy="2351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1" lvl="1" algn="l">
                <a:lnSpc>
                  <a:spcPts val="7000"/>
                </a:lnSpc>
              </a:pP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2. </a:t>
              </a: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시스템</a:t>
              </a: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 </a:t>
              </a:r>
            </a:p>
            <a:p>
              <a:pPr algn="l">
                <a:lnSpc>
                  <a:spcPts val="7000"/>
                </a:lnSpc>
              </a:pP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주요기능</a:t>
              </a: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(1)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353684"/>
              <a:ext cx="4697677" cy="4838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50"/>
                </a:lnSpc>
                <a:spcBef>
                  <a:spcPct val="0"/>
                </a:spcBef>
              </a:pPr>
              <a:r>
                <a:rPr lang="en-US" sz="2100" spc="-63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숭실의 순간을 기록하고 공유하다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91798" y="0"/>
            <a:ext cx="5796202" cy="10287000"/>
            <a:chOff x="0" y="0"/>
            <a:chExt cx="152657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572" cy="2709333"/>
            </a:xfrm>
            <a:custGeom>
              <a:avLst/>
              <a:gdLst/>
              <a:ahLst/>
              <a:cxnLst/>
              <a:rect l="l" t="t" r="r" b="b"/>
              <a:pathLst>
                <a:path w="1526572" h="2709333">
                  <a:moveTo>
                    <a:pt x="0" y="0"/>
                  </a:moveTo>
                  <a:lnTo>
                    <a:pt x="1526572" y="0"/>
                  </a:lnTo>
                  <a:lnTo>
                    <a:pt x="152657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EF2F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2657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9469" y="1344358"/>
            <a:ext cx="10994628" cy="7256919"/>
            <a:chOff x="0" y="-95250"/>
            <a:chExt cx="14659504" cy="9675893"/>
          </a:xfrm>
        </p:grpSpPr>
        <p:sp>
          <p:nvSpPr>
            <p:cNvPr id="6" name="TextBox 6"/>
            <p:cNvSpPr txBox="1"/>
            <p:nvPr/>
          </p:nvSpPr>
          <p:spPr>
            <a:xfrm>
              <a:off x="5579747" y="535491"/>
              <a:ext cx="8617717" cy="1194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7591" lvl="1" indent="-268796" algn="l">
                <a:lnSpc>
                  <a:spcPts val="3735"/>
                </a:lnSpc>
                <a:buFont typeface="Arial"/>
                <a:buChar char="•"/>
              </a:pPr>
              <a:r>
                <a:rPr lang="en-US" sz="2490" spc="-74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캠퍼스 내 장소별로 등록된 사진 확인</a:t>
              </a:r>
            </a:p>
            <a:p>
              <a:pPr marL="537591" lvl="1" indent="-268796" algn="l">
                <a:lnSpc>
                  <a:spcPts val="3735"/>
                </a:lnSpc>
                <a:buFont typeface="Arial"/>
                <a:buChar char="•"/>
              </a:pPr>
              <a:r>
                <a:rPr lang="en-US" sz="2490" spc="-74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같은 장소의 다양한 모습을 한눈에 탐색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79747" y="4413595"/>
              <a:ext cx="8617717" cy="1194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7591" lvl="1" indent="-268796" algn="l">
                <a:lnSpc>
                  <a:spcPts val="3735"/>
                </a:lnSpc>
                <a:buFont typeface="Arial"/>
                <a:buChar char="•"/>
              </a:pPr>
              <a:r>
                <a:rPr lang="en-US" sz="2490" spc="-74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동일 장소의 과거/현재 사진을 비교</a:t>
              </a:r>
            </a:p>
            <a:p>
              <a:pPr marL="537591" lvl="1" indent="-268796" algn="l">
                <a:lnSpc>
                  <a:spcPts val="3735"/>
                </a:lnSpc>
                <a:buFont typeface="Arial"/>
                <a:buChar char="•"/>
              </a:pPr>
              <a:r>
                <a:rPr lang="en-US" sz="2490" spc="-74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계절/행사/시간에 따른 캠퍼스 변화 기록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79747" y="7764035"/>
              <a:ext cx="9079757" cy="18166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7591" lvl="1" indent="-268796" algn="l">
                <a:lnSpc>
                  <a:spcPts val="3735"/>
                </a:lnSpc>
                <a:buFont typeface="Arial"/>
                <a:buChar char="•"/>
              </a:pPr>
              <a:r>
                <a:rPr lang="en-US" sz="2490" spc="-74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회원가입 / 로그인</a:t>
              </a:r>
            </a:p>
            <a:p>
              <a:pPr marL="537591" lvl="1" indent="-268796" algn="l">
                <a:lnSpc>
                  <a:spcPts val="3735"/>
                </a:lnSpc>
                <a:buFont typeface="Arial"/>
                <a:buChar char="•"/>
              </a:pPr>
              <a:r>
                <a:rPr lang="en-US" sz="2490" spc="-74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내가 찍은 장소만 지도 위에 모아보는 발자취 지도</a:t>
              </a:r>
            </a:p>
            <a:p>
              <a:pPr marL="537591" lvl="1" indent="-268796" algn="l">
                <a:lnSpc>
                  <a:spcPts val="3735"/>
                </a:lnSpc>
                <a:buFont typeface="Arial"/>
                <a:buChar char="•"/>
              </a:pPr>
              <a:r>
                <a:rPr lang="en-US" sz="2490" spc="-74">
                  <a:solidFill>
                    <a:srgbClr val="0F148D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활동 기록과 통계로 돌아보는 나의 캠퍼스 기록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038" y="-95250"/>
              <a:ext cx="4198909" cy="2429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462"/>
                </a:lnSpc>
              </a:pPr>
              <a:r>
                <a:rPr lang="en-US" sz="5330" b="1">
                  <a:solidFill>
                    <a:srgbClr val="0F148D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위치 기반</a:t>
              </a:r>
            </a:p>
            <a:p>
              <a:pPr algn="l">
                <a:lnSpc>
                  <a:spcPts val="7462"/>
                </a:lnSpc>
                <a:spcBef>
                  <a:spcPct val="0"/>
                </a:spcBef>
              </a:pPr>
              <a:r>
                <a:rPr lang="en-US" sz="5330" b="1">
                  <a:solidFill>
                    <a:srgbClr val="0F148D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사진 보기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39" y="3726317"/>
              <a:ext cx="4801736" cy="24589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462"/>
                </a:lnSpc>
                <a:spcBef>
                  <a:spcPct val="0"/>
                </a:spcBef>
              </a:pPr>
              <a:r>
                <a:rPr lang="en-US" sz="5330" b="1" dirty="0" err="1">
                  <a:solidFill>
                    <a:srgbClr val="0F148D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시간에</a:t>
              </a:r>
              <a:r>
                <a:rPr lang="en-US" sz="5330" b="1" dirty="0">
                  <a:solidFill>
                    <a:srgbClr val="0F148D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 </a:t>
              </a:r>
              <a:r>
                <a:rPr lang="en-US" sz="5330" b="1" dirty="0" err="1">
                  <a:solidFill>
                    <a:srgbClr val="0F148D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따른</a:t>
              </a:r>
              <a:r>
                <a:rPr lang="en-US" sz="5330" b="1" dirty="0">
                  <a:solidFill>
                    <a:srgbClr val="0F148D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 </a:t>
              </a:r>
              <a:r>
                <a:rPr lang="en-US" sz="5330" b="1" dirty="0" err="1">
                  <a:solidFill>
                    <a:srgbClr val="0F148D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기록</a:t>
              </a:r>
              <a:r>
                <a:rPr lang="en-US" sz="5330" b="1" dirty="0">
                  <a:solidFill>
                    <a:srgbClr val="0F148D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 </a:t>
              </a:r>
              <a:r>
                <a:rPr lang="en-US" sz="5330" b="1" dirty="0" err="1">
                  <a:solidFill>
                    <a:srgbClr val="0F148D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축적</a:t>
              </a:r>
              <a:endParaRPr lang="en-US" sz="5330" b="1" dirty="0">
                <a:solidFill>
                  <a:srgbClr val="0F148D"/>
                </a:solidFill>
                <a:latin typeface="TT Commons Pro Bold"/>
                <a:ea typeface="TT Commons Pro Bold"/>
                <a:cs typeface="TT Commons Pro Bold"/>
                <a:sym typeface="TT Commons Pro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38" y="7989031"/>
              <a:ext cx="6515629" cy="1172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462"/>
                </a:lnSpc>
                <a:spcBef>
                  <a:spcPct val="0"/>
                </a:spcBef>
              </a:pPr>
              <a:r>
                <a:rPr lang="en-US" sz="5330" b="1">
                  <a:solidFill>
                    <a:srgbClr val="0F148D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사용자 기능</a:t>
              </a:r>
            </a:p>
          </p:txBody>
        </p:sp>
        <p:sp>
          <p:nvSpPr>
            <p:cNvPr id="12" name="AutoShape 12"/>
            <p:cNvSpPr/>
            <p:nvPr/>
          </p:nvSpPr>
          <p:spPr>
            <a:xfrm flipV="1">
              <a:off x="0" y="3242338"/>
              <a:ext cx="13732349" cy="0"/>
            </a:xfrm>
            <a:prstGeom prst="line">
              <a:avLst/>
            </a:prstGeom>
            <a:ln w="25400" cap="flat">
              <a:solidFill>
                <a:srgbClr val="D1DAE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0" y="6853497"/>
              <a:ext cx="13732349" cy="0"/>
            </a:xfrm>
            <a:prstGeom prst="line">
              <a:avLst/>
            </a:prstGeom>
            <a:ln w="25400" cap="flat">
              <a:solidFill>
                <a:srgbClr val="D1DAE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491406" y="849830"/>
            <a:ext cx="3796986" cy="2638016"/>
            <a:chOff x="0" y="-104775"/>
            <a:chExt cx="5062648" cy="3517355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104775"/>
              <a:ext cx="5062648" cy="2351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1" lvl="1" algn="l">
                <a:lnSpc>
                  <a:spcPts val="7000"/>
                </a:lnSpc>
              </a:pP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2. </a:t>
              </a: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시스템</a:t>
              </a: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 </a:t>
              </a:r>
            </a:p>
            <a:p>
              <a:pPr algn="r">
                <a:lnSpc>
                  <a:spcPts val="7000"/>
                </a:lnSpc>
              </a:pP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주요기능</a:t>
              </a: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(2)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19902" y="2395310"/>
              <a:ext cx="3342746" cy="1017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50"/>
                </a:lnSpc>
              </a:pPr>
              <a:r>
                <a:rPr lang="en-US" sz="2100" spc="-63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공간과 시간을 연결하는</a:t>
              </a:r>
            </a:p>
            <a:p>
              <a:pPr algn="r">
                <a:lnSpc>
                  <a:spcPts val="3150"/>
                </a:lnSpc>
                <a:spcBef>
                  <a:spcPct val="0"/>
                </a:spcBef>
              </a:pPr>
              <a:r>
                <a:rPr lang="en-US" sz="2100" spc="-63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캠퍼스 아카이브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740322"/>
            <a:ext cx="18288000" cy="8546678"/>
            <a:chOff x="0" y="0"/>
            <a:chExt cx="4816593" cy="22509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250977"/>
            </a:xfrm>
            <a:custGeom>
              <a:avLst/>
              <a:gdLst/>
              <a:ahLst/>
              <a:cxnLst/>
              <a:rect l="l" t="t" r="r" b="b"/>
              <a:pathLst>
                <a:path w="4816592" h="2250977">
                  <a:moveTo>
                    <a:pt x="0" y="0"/>
                  </a:moveTo>
                  <a:lnTo>
                    <a:pt x="4816592" y="0"/>
                  </a:lnTo>
                  <a:lnTo>
                    <a:pt x="4816592" y="2250977"/>
                  </a:lnTo>
                  <a:lnTo>
                    <a:pt x="0" y="22509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289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050968" y="2025630"/>
            <a:ext cx="14186065" cy="7702965"/>
          </a:xfrm>
          <a:custGeom>
            <a:avLst/>
            <a:gdLst/>
            <a:ahLst/>
            <a:cxnLst/>
            <a:rect l="l" t="t" r="r" b="b"/>
            <a:pathLst>
              <a:path w="14186065" h="7702965">
                <a:moveTo>
                  <a:pt x="0" y="0"/>
                </a:moveTo>
                <a:lnTo>
                  <a:pt x="14186064" y="0"/>
                </a:lnTo>
                <a:lnTo>
                  <a:pt x="14186064" y="7702965"/>
                </a:lnTo>
                <a:lnTo>
                  <a:pt x="0" y="77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5562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23092" y="622300"/>
            <a:ext cx="13344523" cy="820738"/>
            <a:chOff x="0" y="-38100"/>
            <a:chExt cx="17792697" cy="1094317"/>
          </a:xfrm>
        </p:grpSpPr>
        <p:sp>
          <p:nvSpPr>
            <p:cNvPr id="7" name="TextBox 7"/>
            <p:cNvSpPr txBox="1"/>
            <p:nvPr/>
          </p:nvSpPr>
          <p:spPr>
            <a:xfrm>
              <a:off x="0" y="-38100"/>
              <a:ext cx="16075519" cy="1094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1" lvl="1" algn="l">
                <a:lnSpc>
                  <a:spcPts val="6350"/>
                </a:lnSpc>
              </a:pP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3. </a:t>
              </a: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시스템</a:t>
              </a: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 </a:t>
              </a: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설계</a:t>
              </a: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 - </a:t>
              </a: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전체</a:t>
              </a: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 </a:t>
              </a: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로드맵</a:t>
              </a:r>
              <a:endPara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67809" y="486198"/>
              <a:ext cx="11724888" cy="52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4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737360"/>
            <a:chOff x="0" y="0"/>
            <a:chExt cx="24384000" cy="2316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316480"/>
            </a:xfrm>
            <a:custGeom>
              <a:avLst/>
              <a:gdLst/>
              <a:ahLst/>
              <a:cxnLst/>
              <a:rect l="l" t="t" r="r" b="b"/>
              <a:pathLst>
                <a:path w="24384000" h="2316480">
                  <a:moveTo>
                    <a:pt x="0" y="0"/>
                  </a:moveTo>
                  <a:lnTo>
                    <a:pt x="24384000" y="0"/>
                  </a:lnTo>
                  <a:lnTo>
                    <a:pt x="243840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EDF2F6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14400" y="520065"/>
            <a:ext cx="13144500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1"/>
              </a:lnSpc>
            </a:pPr>
            <a:r>
              <a:rPr lang="en-US" sz="4859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3.시스템 설계 - 메인페이지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58800" y="746760"/>
            <a:ext cx="4114800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2340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화면 구성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744950" y="9879330"/>
            <a:ext cx="97155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36"/>
              </a:lnSpc>
            </a:pPr>
            <a:r>
              <a:rPr lang="en-US" sz="153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1 / 4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28650" y="2023567"/>
            <a:ext cx="11315700" cy="7702906"/>
            <a:chOff x="0" y="0"/>
            <a:chExt cx="15087600" cy="102705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087600" cy="10270490"/>
            </a:xfrm>
            <a:custGeom>
              <a:avLst/>
              <a:gdLst/>
              <a:ahLst/>
              <a:cxnLst/>
              <a:rect l="l" t="t" r="r" b="b"/>
              <a:pathLst>
                <a:path w="15087600" h="10270490">
                  <a:moveTo>
                    <a:pt x="0" y="0"/>
                  </a:moveTo>
                  <a:lnTo>
                    <a:pt x="15087600" y="0"/>
                  </a:lnTo>
                  <a:lnTo>
                    <a:pt x="15087600" y="10270490"/>
                  </a:lnTo>
                  <a:lnTo>
                    <a:pt x="0" y="10270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26719" y="3421456"/>
            <a:ext cx="11144250" cy="1211123"/>
            <a:chOff x="0" y="0"/>
            <a:chExt cx="14859000" cy="16148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859000" cy="1614805"/>
            </a:xfrm>
            <a:custGeom>
              <a:avLst/>
              <a:gdLst/>
              <a:ahLst/>
              <a:cxnLst/>
              <a:rect l="l" t="t" r="r" b="b"/>
              <a:pathLst>
                <a:path w="14859000" h="1614805">
                  <a:moveTo>
                    <a:pt x="0" y="0"/>
                  </a:moveTo>
                  <a:lnTo>
                    <a:pt x="14859000" y="0"/>
                  </a:lnTo>
                  <a:lnTo>
                    <a:pt x="14859000" y="1614805"/>
                  </a:lnTo>
                  <a:lnTo>
                    <a:pt x="0" y="16148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9295" b="-129296"/>
              </a:stretch>
            </a:blipFill>
            <a:ln w="34290" cap="sq">
              <a:solidFill>
                <a:srgbClr val="14117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555730" y="3360420"/>
            <a:ext cx="434340" cy="434340"/>
            <a:chOff x="0" y="0"/>
            <a:chExt cx="579120" cy="5791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9120" cy="579120"/>
            </a:xfrm>
            <a:custGeom>
              <a:avLst/>
              <a:gdLst/>
              <a:ahLst/>
              <a:cxnLst/>
              <a:rect l="l" t="t" r="r" b="b"/>
              <a:pathLst>
                <a:path w="579120" h="579120">
                  <a:moveTo>
                    <a:pt x="0" y="289560"/>
                  </a:moveTo>
                  <a:cubicBezTo>
                    <a:pt x="0" y="129667"/>
                    <a:pt x="129667" y="0"/>
                    <a:pt x="289560" y="0"/>
                  </a:cubicBezTo>
                  <a:cubicBezTo>
                    <a:pt x="449453" y="0"/>
                    <a:pt x="579120" y="129667"/>
                    <a:pt x="579120" y="289560"/>
                  </a:cubicBezTo>
                  <a:cubicBezTo>
                    <a:pt x="579120" y="449453"/>
                    <a:pt x="449453" y="579120"/>
                    <a:pt x="289560" y="579120"/>
                  </a:cubicBezTo>
                  <a:cubicBezTo>
                    <a:pt x="129667" y="579120"/>
                    <a:pt x="0" y="449453"/>
                    <a:pt x="0" y="289560"/>
                  </a:cubicBezTo>
                  <a:close/>
                </a:path>
              </a:pathLst>
            </a:custGeom>
            <a:solidFill>
              <a:srgbClr val="14117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579120" cy="58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4"/>
                </a:lnSpc>
              </a:pPr>
              <a:r>
                <a:rPr lang="en-US" sz="207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26719" y="4927473"/>
            <a:ext cx="2256282" cy="4494733"/>
            <a:chOff x="0" y="0"/>
            <a:chExt cx="3008376" cy="599297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08376" cy="5993003"/>
            </a:xfrm>
            <a:custGeom>
              <a:avLst/>
              <a:gdLst/>
              <a:ahLst/>
              <a:cxnLst/>
              <a:rect l="l" t="t" r="r" b="b"/>
              <a:pathLst>
                <a:path w="3008376" h="5993003">
                  <a:moveTo>
                    <a:pt x="0" y="0"/>
                  </a:moveTo>
                  <a:lnTo>
                    <a:pt x="3008376" y="0"/>
                  </a:lnTo>
                  <a:lnTo>
                    <a:pt x="3008376" y="5993003"/>
                  </a:lnTo>
                  <a:lnTo>
                    <a:pt x="0" y="59930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5593" r="-205593"/>
              </a:stretch>
            </a:blipFill>
            <a:ln w="34290" cap="sq">
              <a:solidFill>
                <a:srgbClr val="14117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08660" y="7429500"/>
            <a:ext cx="434340" cy="434340"/>
            <a:chOff x="0" y="0"/>
            <a:chExt cx="579120" cy="5791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9120" cy="579120"/>
            </a:xfrm>
            <a:custGeom>
              <a:avLst/>
              <a:gdLst/>
              <a:ahLst/>
              <a:cxnLst/>
              <a:rect l="l" t="t" r="r" b="b"/>
              <a:pathLst>
                <a:path w="579120" h="579120">
                  <a:moveTo>
                    <a:pt x="0" y="289560"/>
                  </a:moveTo>
                  <a:cubicBezTo>
                    <a:pt x="0" y="129667"/>
                    <a:pt x="129667" y="0"/>
                    <a:pt x="289560" y="0"/>
                  </a:cubicBezTo>
                  <a:cubicBezTo>
                    <a:pt x="449453" y="0"/>
                    <a:pt x="579120" y="129667"/>
                    <a:pt x="579120" y="289560"/>
                  </a:cubicBezTo>
                  <a:cubicBezTo>
                    <a:pt x="579120" y="449453"/>
                    <a:pt x="449453" y="579120"/>
                    <a:pt x="289560" y="579120"/>
                  </a:cubicBezTo>
                  <a:cubicBezTo>
                    <a:pt x="129667" y="579120"/>
                    <a:pt x="0" y="449453"/>
                    <a:pt x="0" y="289560"/>
                  </a:cubicBezTo>
                  <a:close/>
                </a:path>
              </a:pathLst>
            </a:custGeom>
            <a:solidFill>
              <a:srgbClr val="14117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579120" cy="58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4"/>
                </a:lnSpc>
              </a:pPr>
              <a:r>
                <a:rPr lang="en-US" sz="207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948711" y="4927473"/>
            <a:ext cx="8922258" cy="4494733"/>
            <a:chOff x="0" y="0"/>
            <a:chExt cx="11896344" cy="599297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896344" cy="5993003"/>
            </a:xfrm>
            <a:custGeom>
              <a:avLst/>
              <a:gdLst/>
              <a:ahLst/>
              <a:cxnLst/>
              <a:rect l="l" t="t" r="r" b="b"/>
              <a:pathLst>
                <a:path w="11896344" h="5993003">
                  <a:moveTo>
                    <a:pt x="0" y="0"/>
                  </a:moveTo>
                  <a:lnTo>
                    <a:pt x="11896344" y="0"/>
                  </a:lnTo>
                  <a:lnTo>
                    <a:pt x="11896344" y="5993003"/>
                  </a:lnTo>
                  <a:lnTo>
                    <a:pt x="0" y="59930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635" r="-14635"/>
              </a:stretch>
            </a:blipFill>
            <a:ln w="34290" cap="sq">
              <a:solidFill>
                <a:srgbClr val="14117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521440" y="7715250"/>
            <a:ext cx="434340" cy="434340"/>
            <a:chOff x="0" y="0"/>
            <a:chExt cx="579120" cy="5791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79120" cy="579120"/>
            </a:xfrm>
            <a:custGeom>
              <a:avLst/>
              <a:gdLst/>
              <a:ahLst/>
              <a:cxnLst/>
              <a:rect l="l" t="t" r="r" b="b"/>
              <a:pathLst>
                <a:path w="579120" h="579120">
                  <a:moveTo>
                    <a:pt x="0" y="289560"/>
                  </a:moveTo>
                  <a:cubicBezTo>
                    <a:pt x="0" y="129667"/>
                    <a:pt x="129667" y="0"/>
                    <a:pt x="289560" y="0"/>
                  </a:cubicBezTo>
                  <a:cubicBezTo>
                    <a:pt x="449453" y="0"/>
                    <a:pt x="579120" y="129667"/>
                    <a:pt x="579120" y="289560"/>
                  </a:cubicBezTo>
                  <a:cubicBezTo>
                    <a:pt x="579120" y="449453"/>
                    <a:pt x="449453" y="579120"/>
                    <a:pt x="289560" y="579120"/>
                  </a:cubicBezTo>
                  <a:cubicBezTo>
                    <a:pt x="129667" y="579120"/>
                    <a:pt x="0" y="449453"/>
                    <a:pt x="0" y="289560"/>
                  </a:cubicBezTo>
                  <a:close/>
                </a:path>
              </a:pathLst>
            </a:custGeom>
            <a:solidFill>
              <a:srgbClr val="14117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579120" cy="58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4"/>
                </a:lnSpc>
              </a:pPr>
              <a:r>
                <a:rPr lang="en-US" sz="207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344400" y="2240280"/>
            <a:ext cx="5372100" cy="1988820"/>
            <a:chOff x="0" y="0"/>
            <a:chExt cx="7162800" cy="26517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162800" cy="2651760"/>
            </a:xfrm>
            <a:custGeom>
              <a:avLst/>
              <a:gdLst/>
              <a:ahLst/>
              <a:cxnLst/>
              <a:rect l="l" t="t" r="r" b="b"/>
              <a:pathLst>
                <a:path w="7162800" h="265176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7061200" y="0"/>
                  </a:lnTo>
                  <a:cubicBezTo>
                    <a:pt x="7117334" y="0"/>
                    <a:pt x="7162800" y="45466"/>
                    <a:pt x="7162800" y="101600"/>
                  </a:cubicBezTo>
                  <a:lnTo>
                    <a:pt x="7162800" y="2550160"/>
                  </a:lnTo>
                  <a:cubicBezTo>
                    <a:pt x="7162800" y="2606294"/>
                    <a:pt x="7117334" y="2651760"/>
                    <a:pt x="7061200" y="2651760"/>
                  </a:cubicBezTo>
                  <a:lnTo>
                    <a:pt x="101600" y="2651760"/>
                  </a:lnTo>
                  <a:cubicBezTo>
                    <a:pt x="45466" y="2651760"/>
                    <a:pt x="0" y="2606294"/>
                    <a:pt x="0" y="2550160"/>
                  </a:cubicBezTo>
                  <a:close/>
                </a:path>
              </a:pathLst>
            </a:custGeom>
            <a:solidFill>
              <a:srgbClr val="EDF2F6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458700" y="2423160"/>
            <a:ext cx="434340" cy="434340"/>
            <a:chOff x="0" y="0"/>
            <a:chExt cx="579120" cy="5791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79120" cy="579120"/>
            </a:xfrm>
            <a:custGeom>
              <a:avLst/>
              <a:gdLst/>
              <a:ahLst/>
              <a:cxnLst/>
              <a:rect l="l" t="t" r="r" b="b"/>
              <a:pathLst>
                <a:path w="579120" h="579120">
                  <a:moveTo>
                    <a:pt x="0" y="289560"/>
                  </a:moveTo>
                  <a:cubicBezTo>
                    <a:pt x="0" y="129667"/>
                    <a:pt x="129667" y="0"/>
                    <a:pt x="289560" y="0"/>
                  </a:cubicBezTo>
                  <a:cubicBezTo>
                    <a:pt x="449453" y="0"/>
                    <a:pt x="579120" y="129667"/>
                    <a:pt x="579120" y="289560"/>
                  </a:cubicBezTo>
                  <a:cubicBezTo>
                    <a:pt x="579120" y="449453"/>
                    <a:pt x="449453" y="579120"/>
                    <a:pt x="289560" y="579120"/>
                  </a:cubicBezTo>
                  <a:cubicBezTo>
                    <a:pt x="129667" y="579120"/>
                    <a:pt x="0" y="449453"/>
                    <a:pt x="0" y="289560"/>
                  </a:cubicBezTo>
                  <a:close/>
                </a:path>
              </a:pathLst>
            </a:custGeom>
            <a:solidFill>
              <a:srgbClr val="14117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579120" cy="58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4"/>
                </a:lnSpc>
              </a:pPr>
              <a:r>
                <a:rPr lang="en-US" sz="207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064490" y="2381250"/>
            <a:ext cx="453771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시간 탐색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064490" y="2941320"/>
            <a:ext cx="4537710" cy="139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날짜·빠른 기간 선택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JavaScript로 업로드 시각 비교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344400" y="4503420"/>
            <a:ext cx="5372100" cy="1988820"/>
            <a:chOff x="0" y="0"/>
            <a:chExt cx="7162800" cy="26517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162800" cy="2651760"/>
            </a:xfrm>
            <a:custGeom>
              <a:avLst/>
              <a:gdLst/>
              <a:ahLst/>
              <a:cxnLst/>
              <a:rect l="l" t="t" r="r" b="b"/>
              <a:pathLst>
                <a:path w="7162800" h="265176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7061200" y="0"/>
                  </a:lnTo>
                  <a:cubicBezTo>
                    <a:pt x="7117334" y="0"/>
                    <a:pt x="7162800" y="45466"/>
                    <a:pt x="7162800" y="101600"/>
                  </a:cubicBezTo>
                  <a:lnTo>
                    <a:pt x="7162800" y="2550160"/>
                  </a:lnTo>
                  <a:cubicBezTo>
                    <a:pt x="7162800" y="2606294"/>
                    <a:pt x="7117334" y="2651760"/>
                    <a:pt x="7061200" y="2651760"/>
                  </a:cubicBezTo>
                  <a:lnTo>
                    <a:pt x="101600" y="2651760"/>
                  </a:lnTo>
                  <a:cubicBezTo>
                    <a:pt x="45466" y="2651760"/>
                    <a:pt x="0" y="2606294"/>
                    <a:pt x="0" y="2550160"/>
                  </a:cubicBezTo>
                  <a:close/>
                </a:path>
              </a:pathLst>
            </a:custGeom>
            <a:solidFill>
              <a:srgbClr val="EDF2F6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458700" y="4686300"/>
            <a:ext cx="434340" cy="434340"/>
            <a:chOff x="0" y="0"/>
            <a:chExt cx="579120" cy="5791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79120" cy="579120"/>
            </a:xfrm>
            <a:custGeom>
              <a:avLst/>
              <a:gdLst/>
              <a:ahLst/>
              <a:cxnLst/>
              <a:rect l="l" t="t" r="r" b="b"/>
              <a:pathLst>
                <a:path w="579120" h="579120">
                  <a:moveTo>
                    <a:pt x="0" y="289560"/>
                  </a:moveTo>
                  <a:cubicBezTo>
                    <a:pt x="0" y="129667"/>
                    <a:pt x="129667" y="0"/>
                    <a:pt x="289560" y="0"/>
                  </a:cubicBezTo>
                  <a:cubicBezTo>
                    <a:pt x="449453" y="0"/>
                    <a:pt x="579120" y="129667"/>
                    <a:pt x="579120" y="289560"/>
                  </a:cubicBezTo>
                  <a:cubicBezTo>
                    <a:pt x="579120" y="449453"/>
                    <a:pt x="449453" y="579120"/>
                    <a:pt x="289560" y="579120"/>
                  </a:cubicBezTo>
                  <a:cubicBezTo>
                    <a:pt x="129667" y="579120"/>
                    <a:pt x="0" y="449453"/>
                    <a:pt x="0" y="289560"/>
                  </a:cubicBezTo>
                  <a:close/>
                </a:path>
              </a:pathLst>
            </a:custGeom>
            <a:solidFill>
              <a:srgbClr val="14117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579120" cy="58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4"/>
                </a:lnSpc>
              </a:pPr>
              <a:r>
                <a:rPr lang="en-US" sz="207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3064490" y="4644390"/>
            <a:ext cx="453771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사진 지도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064490" y="5204460"/>
            <a:ext cx="4537710" cy="139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Leaflet · OpenStreetMap 사용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위도·경도로 사진 위치 표시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2344400" y="6766560"/>
            <a:ext cx="5372100" cy="1988820"/>
            <a:chOff x="0" y="0"/>
            <a:chExt cx="7162800" cy="265176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162800" cy="2651760"/>
            </a:xfrm>
            <a:custGeom>
              <a:avLst/>
              <a:gdLst/>
              <a:ahLst/>
              <a:cxnLst/>
              <a:rect l="l" t="t" r="r" b="b"/>
              <a:pathLst>
                <a:path w="7162800" h="265176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7061200" y="0"/>
                  </a:lnTo>
                  <a:cubicBezTo>
                    <a:pt x="7117334" y="0"/>
                    <a:pt x="7162800" y="45466"/>
                    <a:pt x="7162800" y="101600"/>
                  </a:cubicBezTo>
                  <a:lnTo>
                    <a:pt x="7162800" y="2550160"/>
                  </a:lnTo>
                  <a:cubicBezTo>
                    <a:pt x="7162800" y="2606294"/>
                    <a:pt x="7117334" y="2651760"/>
                    <a:pt x="7061200" y="2651760"/>
                  </a:cubicBezTo>
                  <a:lnTo>
                    <a:pt x="101600" y="2651760"/>
                  </a:lnTo>
                  <a:cubicBezTo>
                    <a:pt x="45466" y="2651760"/>
                    <a:pt x="0" y="2606294"/>
                    <a:pt x="0" y="2550160"/>
                  </a:cubicBezTo>
                  <a:close/>
                </a:path>
              </a:pathLst>
            </a:custGeom>
            <a:solidFill>
              <a:srgbClr val="EDF2F6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458700" y="6949440"/>
            <a:ext cx="434340" cy="434340"/>
            <a:chOff x="0" y="0"/>
            <a:chExt cx="579120" cy="5791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79120" cy="579120"/>
            </a:xfrm>
            <a:custGeom>
              <a:avLst/>
              <a:gdLst/>
              <a:ahLst/>
              <a:cxnLst/>
              <a:rect l="l" t="t" r="r" b="b"/>
              <a:pathLst>
                <a:path w="579120" h="579120">
                  <a:moveTo>
                    <a:pt x="0" y="289560"/>
                  </a:moveTo>
                  <a:cubicBezTo>
                    <a:pt x="0" y="129667"/>
                    <a:pt x="129667" y="0"/>
                    <a:pt x="289560" y="0"/>
                  </a:cubicBezTo>
                  <a:cubicBezTo>
                    <a:pt x="449453" y="0"/>
                    <a:pt x="579120" y="129667"/>
                    <a:pt x="579120" y="289560"/>
                  </a:cubicBezTo>
                  <a:cubicBezTo>
                    <a:pt x="579120" y="449453"/>
                    <a:pt x="449453" y="579120"/>
                    <a:pt x="289560" y="579120"/>
                  </a:cubicBezTo>
                  <a:cubicBezTo>
                    <a:pt x="129667" y="579120"/>
                    <a:pt x="0" y="449453"/>
                    <a:pt x="0" y="289560"/>
                  </a:cubicBezTo>
                  <a:close/>
                </a:path>
              </a:pathLst>
            </a:custGeom>
            <a:solidFill>
              <a:srgbClr val="14117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579120" cy="58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4"/>
                </a:lnSpc>
              </a:pPr>
              <a:r>
                <a:rPr lang="en-US" sz="207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3064490" y="6907530"/>
            <a:ext cx="453771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사진 목록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064490" y="7467600"/>
            <a:ext cx="4537710" cy="139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지도 이동 이벤트와 연동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표시 영역의 사진을 10장씩 조회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18500" flipV="1">
            <a:off x="11727410" y="8102887"/>
            <a:ext cx="776779" cy="26786"/>
          </a:xfrm>
          <a:prstGeom prst="line">
            <a:avLst/>
          </a:prstGeom>
          <a:ln w="19050" cap="rnd">
            <a:solidFill>
              <a:srgbClr val="14117A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 rot="118500" flipV="1">
            <a:off x="5757779" y="8130542"/>
            <a:ext cx="828185" cy="28560"/>
          </a:xfrm>
          <a:prstGeom prst="line">
            <a:avLst/>
          </a:prstGeom>
          <a:ln w="19050" cap="rnd">
            <a:solidFill>
              <a:srgbClr val="14117A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18288000" cy="1737360"/>
            <a:chOff x="0" y="0"/>
            <a:chExt cx="24384000" cy="23164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2316480"/>
            </a:xfrm>
            <a:custGeom>
              <a:avLst/>
              <a:gdLst/>
              <a:ahLst/>
              <a:cxnLst/>
              <a:rect l="l" t="t" r="r" b="b"/>
              <a:pathLst>
                <a:path w="24384000" h="2316480">
                  <a:moveTo>
                    <a:pt x="0" y="0"/>
                  </a:moveTo>
                  <a:lnTo>
                    <a:pt x="24384000" y="0"/>
                  </a:lnTo>
                  <a:lnTo>
                    <a:pt x="243840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EDF2F6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520065"/>
            <a:ext cx="13144500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1"/>
              </a:lnSpc>
            </a:pPr>
            <a:r>
              <a:rPr lang="en-US" sz="4859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3.시스템 설계 - 메인페이지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58800" y="746760"/>
            <a:ext cx="4114800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2340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시간 필터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744950" y="9879330"/>
            <a:ext cx="97155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36"/>
              </a:lnSpc>
            </a:pPr>
            <a:r>
              <a:rPr lang="en-US" sz="153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2 / 4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28650" y="2105816"/>
            <a:ext cx="17030700" cy="2463479"/>
            <a:chOff x="0" y="0"/>
            <a:chExt cx="22707600" cy="32846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707600" cy="3284601"/>
            </a:xfrm>
            <a:custGeom>
              <a:avLst/>
              <a:gdLst/>
              <a:ahLst/>
              <a:cxnLst/>
              <a:rect l="l" t="t" r="r" b="b"/>
              <a:pathLst>
                <a:path w="22707600" h="3284601">
                  <a:moveTo>
                    <a:pt x="0" y="0"/>
                  </a:moveTo>
                  <a:lnTo>
                    <a:pt x="22707600" y="0"/>
                  </a:lnTo>
                  <a:lnTo>
                    <a:pt x="22707600" y="3284601"/>
                  </a:lnTo>
                  <a:lnTo>
                    <a:pt x="0" y="3284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17245" y="2714625"/>
            <a:ext cx="6572250" cy="662940"/>
            <a:chOff x="0" y="0"/>
            <a:chExt cx="8763000" cy="8839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63000" cy="883920"/>
            </a:xfrm>
            <a:custGeom>
              <a:avLst/>
              <a:gdLst/>
              <a:ahLst/>
              <a:cxnLst/>
              <a:rect l="l" t="t" r="r" b="b"/>
              <a:pathLst>
                <a:path w="8763000" h="883920">
                  <a:moveTo>
                    <a:pt x="0" y="0"/>
                  </a:moveTo>
                  <a:lnTo>
                    <a:pt x="8763000" y="0"/>
                  </a:lnTo>
                  <a:lnTo>
                    <a:pt x="8763000" y="883920"/>
                  </a:lnTo>
                  <a:lnTo>
                    <a:pt x="0" y="883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3170" b="-143170"/>
              </a:stretch>
            </a:blipFill>
            <a:ln w="34290" cap="sq">
              <a:solidFill>
                <a:srgbClr val="14117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4370" y="2514600"/>
            <a:ext cx="434340" cy="434340"/>
            <a:chOff x="0" y="0"/>
            <a:chExt cx="579120" cy="5791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9120" cy="579120"/>
            </a:xfrm>
            <a:custGeom>
              <a:avLst/>
              <a:gdLst/>
              <a:ahLst/>
              <a:cxnLst/>
              <a:rect l="l" t="t" r="r" b="b"/>
              <a:pathLst>
                <a:path w="579120" h="579120">
                  <a:moveTo>
                    <a:pt x="0" y="289560"/>
                  </a:moveTo>
                  <a:cubicBezTo>
                    <a:pt x="0" y="129667"/>
                    <a:pt x="129667" y="0"/>
                    <a:pt x="289560" y="0"/>
                  </a:cubicBezTo>
                  <a:cubicBezTo>
                    <a:pt x="449453" y="0"/>
                    <a:pt x="579120" y="129667"/>
                    <a:pt x="579120" y="289560"/>
                  </a:cubicBezTo>
                  <a:cubicBezTo>
                    <a:pt x="579120" y="449453"/>
                    <a:pt x="449453" y="579120"/>
                    <a:pt x="289560" y="579120"/>
                  </a:cubicBezTo>
                  <a:cubicBezTo>
                    <a:pt x="129667" y="579120"/>
                    <a:pt x="0" y="449453"/>
                    <a:pt x="0" y="289560"/>
                  </a:cubicBezTo>
                  <a:close/>
                </a:path>
              </a:pathLst>
            </a:custGeom>
            <a:solidFill>
              <a:srgbClr val="14117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79120" cy="58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4"/>
                </a:lnSpc>
              </a:pPr>
              <a:r>
                <a:rPr lang="en-US" sz="207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25805" y="4189095"/>
            <a:ext cx="3577590" cy="354330"/>
            <a:chOff x="0" y="0"/>
            <a:chExt cx="4770120" cy="4724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70120" cy="472440"/>
            </a:xfrm>
            <a:custGeom>
              <a:avLst/>
              <a:gdLst/>
              <a:ahLst/>
              <a:cxnLst/>
              <a:rect l="l" t="t" r="r" b="b"/>
              <a:pathLst>
                <a:path w="4770120" h="472440">
                  <a:moveTo>
                    <a:pt x="0" y="0"/>
                  </a:moveTo>
                  <a:lnTo>
                    <a:pt x="4770120" y="0"/>
                  </a:lnTo>
                  <a:lnTo>
                    <a:pt x="4770120" y="472440"/>
                  </a:lnTo>
                  <a:lnTo>
                    <a:pt x="0" y="472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6736" b="-146736"/>
              </a:stretch>
            </a:blipFill>
            <a:ln w="34290" cap="sq">
              <a:solidFill>
                <a:srgbClr val="14117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23410" y="4103370"/>
            <a:ext cx="434340" cy="434340"/>
            <a:chOff x="0" y="0"/>
            <a:chExt cx="579120" cy="5791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79120" cy="579120"/>
            </a:xfrm>
            <a:custGeom>
              <a:avLst/>
              <a:gdLst/>
              <a:ahLst/>
              <a:cxnLst/>
              <a:rect l="l" t="t" r="r" b="b"/>
              <a:pathLst>
                <a:path w="579120" h="579120">
                  <a:moveTo>
                    <a:pt x="0" y="289560"/>
                  </a:moveTo>
                  <a:cubicBezTo>
                    <a:pt x="0" y="129667"/>
                    <a:pt x="129667" y="0"/>
                    <a:pt x="289560" y="0"/>
                  </a:cubicBezTo>
                  <a:cubicBezTo>
                    <a:pt x="449453" y="0"/>
                    <a:pt x="579120" y="129667"/>
                    <a:pt x="579120" y="289560"/>
                  </a:cubicBezTo>
                  <a:cubicBezTo>
                    <a:pt x="579120" y="449453"/>
                    <a:pt x="449453" y="579120"/>
                    <a:pt x="289560" y="579120"/>
                  </a:cubicBezTo>
                  <a:cubicBezTo>
                    <a:pt x="129667" y="579120"/>
                    <a:pt x="0" y="449453"/>
                    <a:pt x="0" y="289560"/>
                  </a:cubicBezTo>
                  <a:close/>
                </a:path>
              </a:pathLst>
            </a:custGeom>
            <a:solidFill>
              <a:srgbClr val="14117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579120" cy="58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4"/>
                </a:lnSpc>
              </a:pPr>
              <a:r>
                <a:rPr lang="en-US" sz="207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800100" y="4907280"/>
            <a:ext cx="1097280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060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선택한 기간에 해당하는 사진만 표시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0100" y="5604510"/>
            <a:ext cx="11201400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예: 9월 23일 선택 → 해당 날짜에 업로드된 사진 4장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915900" y="4907280"/>
            <a:ext cx="4686300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90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세부 시간 설정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915900" y="5604510"/>
            <a:ext cx="4686300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340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날짜·시간 입력과 슬라이더로</a:t>
            </a:r>
          </a:p>
          <a:p>
            <a:pPr algn="l">
              <a:lnSpc>
                <a:spcPts val="2808"/>
              </a:lnSpc>
            </a:pPr>
            <a:r>
              <a:rPr lang="en-US" sz="2340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조회 범위를 조절합니다.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17220" y="7280910"/>
            <a:ext cx="5166360" cy="1680210"/>
            <a:chOff x="0" y="0"/>
            <a:chExt cx="6888480" cy="224028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888480" cy="2240280"/>
            </a:xfrm>
            <a:custGeom>
              <a:avLst/>
              <a:gdLst/>
              <a:ahLst/>
              <a:cxnLst/>
              <a:rect l="l" t="t" r="r" b="b"/>
              <a:pathLst>
                <a:path w="6888480" h="2240280">
                  <a:moveTo>
                    <a:pt x="0" y="0"/>
                  </a:moveTo>
                  <a:lnTo>
                    <a:pt x="6888480" y="0"/>
                  </a:lnTo>
                  <a:lnTo>
                    <a:pt x="6888480" y="2240280"/>
                  </a:lnTo>
                  <a:lnTo>
                    <a:pt x="0" y="2240280"/>
                  </a:ln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DCE3E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880110" y="7479030"/>
            <a:ext cx="4640580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기간 선택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0110" y="8025765"/>
            <a:ext cx="4640580" cy="77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160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날짜 입력 · 빠른 기간 선택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560820" y="7280910"/>
            <a:ext cx="5166360" cy="1680210"/>
            <a:chOff x="0" y="0"/>
            <a:chExt cx="6888480" cy="22402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888480" cy="2240280"/>
            </a:xfrm>
            <a:custGeom>
              <a:avLst/>
              <a:gdLst/>
              <a:ahLst/>
              <a:cxnLst/>
              <a:rect l="l" t="t" r="r" b="b"/>
              <a:pathLst>
                <a:path w="6888480" h="2240280">
                  <a:moveTo>
                    <a:pt x="0" y="0"/>
                  </a:moveTo>
                  <a:lnTo>
                    <a:pt x="6888480" y="0"/>
                  </a:lnTo>
                  <a:lnTo>
                    <a:pt x="6888480" y="2240280"/>
                  </a:lnTo>
                  <a:lnTo>
                    <a:pt x="0" y="2240280"/>
                  </a:ln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DCE3E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823710" y="7479030"/>
            <a:ext cx="4640580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사진 필터링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23710" y="8025765"/>
            <a:ext cx="4640580" cy="77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160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JavaScript로 업로드 시각 비교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504420" y="7280910"/>
            <a:ext cx="5166360" cy="1680210"/>
            <a:chOff x="0" y="0"/>
            <a:chExt cx="6888480" cy="22402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888480" cy="2240280"/>
            </a:xfrm>
            <a:custGeom>
              <a:avLst/>
              <a:gdLst/>
              <a:ahLst/>
              <a:cxnLst/>
              <a:rect l="l" t="t" r="r" b="b"/>
              <a:pathLst>
                <a:path w="6888480" h="2240280">
                  <a:moveTo>
                    <a:pt x="0" y="0"/>
                  </a:moveTo>
                  <a:lnTo>
                    <a:pt x="6888480" y="0"/>
                  </a:lnTo>
                  <a:lnTo>
                    <a:pt x="6888480" y="2240280"/>
                  </a:lnTo>
                  <a:lnTo>
                    <a:pt x="0" y="2240280"/>
                  </a:ln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DCE3E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2767310" y="7479030"/>
            <a:ext cx="4640580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지도·목록 갱신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767310" y="8025765"/>
            <a:ext cx="4640580" cy="77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160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조건에 맞는 사진을 함께 표시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8650" y="9283065"/>
            <a:ext cx="17030700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160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사용 기능: 날짜·시간 입력(input) · 시간 슬라이더(range) · 사진 필터 함수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737360"/>
            <a:chOff x="0" y="0"/>
            <a:chExt cx="24384000" cy="2316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316480"/>
            </a:xfrm>
            <a:custGeom>
              <a:avLst/>
              <a:gdLst/>
              <a:ahLst/>
              <a:cxnLst/>
              <a:rect l="l" t="t" r="r" b="b"/>
              <a:pathLst>
                <a:path w="24384000" h="2316480">
                  <a:moveTo>
                    <a:pt x="0" y="0"/>
                  </a:moveTo>
                  <a:lnTo>
                    <a:pt x="24384000" y="0"/>
                  </a:lnTo>
                  <a:lnTo>
                    <a:pt x="243840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EDF2F6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14400" y="520065"/>
            <a:ext cx="13144500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1"/>
              </a:lnSpc>
            </a:pPr>
            <a:r>
              <a:rPr lang="en-US" sz="4859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3.시스템 설계 - 메인페이지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58800" y="746760"/>
            <a:ext cx="4114800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2340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지도·목록 연동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744950" y="9879330"/>
            <a:ext cx="97155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36"/>
              </a:lnSpc>
            </a:pPr>
            <a:r>
              <a:rPr lang="en-US" sz="153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3 / 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8650" y="2049780"/>
            <a:ext cx="800100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90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① 탐색 중인 지도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58350" y="2049780"/>
            <a:ext cx="800100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90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② 사진 묶음 선택 후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29383" y="2708910"/>
            <a:ext cx="8113824" cy="3257550"/>
            <a:chOff x="0" y="0"/>
            <a:chExt cx="10818432" cy="4343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818495" cy="4343400"/>
            </a:xfrm>
            <a:custGeom>
              <a:avLst/>
              <a:gdLst/>
              <a:ahLst/>
              <a:cxnLst/>
              <a:rect l="l" t="t" r="r" b="b"/>
              <a:pathLst>
                <a:path w="10818495" h="4343400">
                  <a:moveTo>
                    <a:pt x="0" y="0"/>
                  </a:moveTo>
                  <a:lnTo>
                    <a:pt x="10818495" y="0"/>
                  </a:lnTo>
                  <a:lnTo>
                    <a:pt x="10818495" y="4343400"/>
                  </a:lnTo>
                  <a:lnTo>
                    <a:pt x="0" y="434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59083" y="2708910"/>
            <a:ext cx="8113824" cy="3257550"/>
            <a:chOff x="0" y="0"/>
            <a:chExt cx="10818432" cy="4343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18495" cy="4343400"/>
            </a:xfrm>
            <a:custGeom>
              <a:avLst/>
              <a:gdLst/>
              <a:ahLst/>
              <a:cxnLst/>
              <a:rect l="l" t="t" r="r" b="b"/>
              <a:pathLst>
                <a:path w="10818495" h="4343400">
                  <a:moveTo>
                    <a:pt x="0" y="0"/>
                  </a:moveTo>
                  <a:lnTo>
                    <a:pt x="10818495" y="0"/>
                  </a:lnTo>
                  <a:lnTo>
                    <a:pt x="10818495" y="4343400"/>
                  </a:lnTo>
                  <a:lnTo>
                    <a:pt x="0" y="434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11505" y="2691765"/>
            <a:ext cx="1657350" cy="3291840"/>
            <a:chOff x="0" y="0"/>
            <a:chExt cx="2209800" cy="43891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09800" cy="4389120"/>
            </a:xfrm>
            <a:custGeom>
              <a:avLst/>
              <a:gdLst/>
              <a:ahLst/>
              <a:cxnLst/>
              <a:rect l="l" t="t" r="r" b="b"/>
              <a:pathLst>
                <a:path w="2209800" h="4389120">
                  <a:moveTo>
                    <a:pt x="0" y="0"/>
                  </a:moveTo>
                  <a:lnTo>
                    <a:pt x="2209800" y="0"/>
                  </a:lnTo>
                  <a:lnTo>
                    <a:pt x="220980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4837" r="-204837"/>
              </a:stretch>
            </a:blipFill>
            <a:ln w="34290" cap="sq">
              <a:solidFill>
                <a:srgbClr val="14117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41205" y="2691765"/>
            <a:ext cx="1657350" cy="3291840"/>
            <a:chOff x="0" y="0"/>
            <a:chExt cx="2209800" cy="43891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09800" cy="4389120"/>
            </a:xfrm>
            <a:custGeom>
              <a:avLst/>
              <a:gdLst/>
              <a:ahLst/>
              <a:cxnLst/>
              <a:rect l="l" t="t" r="r" b="b"/>
              <a:pathLst>
                <a:path w="2209800" h="4389120">
                  <a:moveTo>
                    <a:pt x="0" y="0"/>
                  </a:moveTo>
                  <a:lnTo>
                    <a:pt x="2209800" y="0"/>
                  </a:lnTo>
                  <a:lnTo>
                    <a:pt x="220980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4837" r="-204837"/>
              </a:stretch>
            </a:blipFill>
            <a:ln w="34290" cap="sq">
              <a:solidFill>
                <a:srgbClr val="14117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28650" y="6347460"/>
            <a:ext cx="8115300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지도 이동 → 보이는 영역의 목록 갱신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58350" y="6347460"/>
            <a:ext cx="8115300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선택한 사진 묶음 → 해당 사진 목록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8650" y="7101840"/>
            <a:ext cx="8115300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선택한 기간의 사진 중 화면 안 좌표만 표시</a:t>
            </a:r>
          </a:p>
          <a:p>
            <a:pPr algn="l">
              <a:lnSpc>
                <a:spcPts val="2915"/>
              </a:lnSpc>
            </a:pPr>
            <a:r>
              <a:rPr lang="en-US" sz="2429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처음 10장, ‘더 보기’마다 10장 추가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58350" y="7101840"/>
            <a:ext cx="8115300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가까운 위치는 확대하고 사진 묶음을 표시</a:t>
            </a:r>
          </a:p>
          <a:p>
            <a:pPr algn="l">
              <a:lnSpc>
                <a:spcPts val="2915"/>
              </a:lnSpc>
            </a:pPr>
            <a:r>
              <a:rPr lang="en-US" sz="2429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같은 좌표의 사진은 확대해도 묶음 유지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28650" y="8709660"/>
            <a:ext cx="17030700" cy="22860"/>
            <a:chOff x="0" y="0"/>
            <a:chExt cx="22707600" cy="304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707600" cy="30480"/>
            </a:xfrm>
            <a:custGeom>
              <a:avLst/>
              <a:gdLst/>
              <a:ahLst/>
              <a:cxnLst/>
              <a:rect l="l" t="t" r="r" b="b"/>
              <a:pathLst>
                <a:path w="22707600" h="30480">
                  <a:moveTo>
                    <a:pt x="0" y="0"/>
                  </a:moveTo>
                  <a:lnTo>
                    <a:pt x="22707600" y="0"/>
                  </a:lnTo>
                  <a:lnTo>
                    <a:pt x="22707600" y="30480"/>
                  </a:lnTo>
                  <a:lnTo>
                    <a:pt x="0" y="30480"/>
                  </a:lnTo>
                  <a:close/>
                </a:path>
              </a:pathLst>
            </a:custGeom>
            <a:solidFill>
              <a:srgbClr val="DCE3EA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28650" y="9010650"/>
            <a:ext cx="1703070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사용 기능: Leaflet 지도 이동 이벤트 · 좌표 그룹화 · 지도 경계 검사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737360"/>
            <a:chOff x="0" y="0"/>
            <a:chExt cx="24384000" cy="2316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316480"/>
            </a:xfrm>
            <a:custGeom>
              <a:avLst/>
              <a:gdLst/>
              <a:ahLst/>
              <a:cxnLst/>
              <a:rect l="l" t="t" r="r" b="b"/>
              <a:pathLst>
                <a:path w="24384000" h="2316480">
                  <a:moveTo>
                    <a:pt x="0" y="0"/>
                  </a:moveTo>
                  <a:lnTo>
                    <a:pt x="24384000" y="0"/>
                  </a:lnTo>
                  <a:lnTo>
                    <a:pt x="243840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EDF2F6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14400" y="520065"/>
            <a:ext cx="13144500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1"/>
              </a:lnSpc>
            </a:pPr>
            <a:r>
              <a:rPr lang="en-US" sz="4859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3.시스템 설계 - 메인페이지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58800" y="746760"/>
            <a:ext cx="4114800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2340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사진 상세 조회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744950" y="9879330"/>
            <a:ext cx="97155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36"/>
              </a:lnSpc>
            </a:pPr>
            <a:r>
              <a:rPr lang="en-US" sz="153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4 / 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8650" y="2038350"/>
            <a:ext cx="457200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목록에서 위치 확인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30155" y="2766060"/>
            <a:ext cx="3654590" cy="5143500"/>
            <a:chOff x="0" y="0"/>
            <a:chExt cx="4872787" cy="6858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72736" cy="6858000"/>
            </a:xfrm>
            <a:custGeom>
              <a:avLst/>
              <a:gdLst/>
              <a:ahLst/>
              <a:cxnLst/>
              <a:rect l="l" t="t" r="r" b="b"/>
              <a:pathLst>
                <a:path w="4872736" h="6858000">
                  <a:moveTo>
                    <a:pt x="0" y="0"/>
                  </a:moveTo>
                  <a:lnTo>
                    <a:pt x="4872736" y="0"/>
                  </a:lnTo>
                  <a:lnTo>
                    <a:pt x="4872736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34365" y="3848100"/>
            <a:ext cx="3646170" cy="2023110"/>
            <a:chOff x="0" y="-45720"/>
            <a:chExt cx="4861560" cy="2697480"/>
          </a:xfrm>
        </p:grpSpPr>
        <p:sp>
          <p:nvSpPr>
            <p:cNvPr id="11" name="Freeform 11"/>
            <p:cNvSpPr/>
            <p:nvPr/>
          </p:nvSpPr>
          <p:spPr>
            <a:xfrm>
              <a:off x="0" y="-45720"/>
              <a:ext cx="4861560" cy="2697480"/>
            </a:xfrm>
            <a:custGeom>
              <a:avLst/>
              <a:gdLst/>
              <a:ahLst/>
              <a:cxnLst/>
              <a:rect l="l" t="t" r="r" b="b"/>
              <a:pathLst>
                <a:path w="4861560" h="2697480">
                  <a:moveTo>
                    <a:pt x="0" y="0"/>
                  </a:moveTo>
                  <a:lnTo>
                    <a:pt x="4861560" y="0"/>
                  </a:lnTo>
                  <a:lnTo>
                    <a:pt x="4861560" y="2697480"/>
                  </a:lnTo>
                  <a:lnTo>
                    <a:pt x="0" y="2697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1190" r="-21190"/>
              </a:stretch>
            </a:blipFill>
            <a:ln w="34290" cap="sq">
              <a:solidFill>
                <a:srgbClr val="14117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034790" y="3931920"/>
            <a:ext cx="434340" cy="434340"/>
            <a:chOff x="0" y="0"/>
            <a:chExt cx="579120" cy="5791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9120" cy="579120"/>
            </a:xfrm>
            <a:custGeom>
              <a:avLst/>
              <a:gdLst/>
              <a:ahLst/>
              <a:cxnLst/>
              <a:rect l="l" t="t" r="r" b="b"/>
              <a:pathLst>
                <a:path w="579120" h="579120">
                  <a:moveTo>
                    <a:pt x="0" y="289560"/>
                  </a:moveTo>
                  <a:cubicBezTo>
                    <a:pt x="0" y="129667"/>
                    <a:pt x="129667" y="0"/>
                    <a:pt x="289560" y="0"/>
                  </a:cubicBezTo>
                  <a:cubicBezTo>
                    <a:pt x="449453" y="0"/>
                    <a:pt x="579120" y="129667"/>
                    <a:pt x="579120" y="289560"/>
                  </a:cubicBezTo>
                  <a:cubicBezTo>
                    <a:pt x="579120" y="449453"/>
                    <a:pt x="449453" y="579120"/>
                    <a:pt x="289560" y="579120"/>
                  </a:cubicBezTo>
                  <a:cubicBezTo>
                    <a:pt x="129667" y="579120"/>
                    <a:pt x="0" y="449453"/>
                    <a:pt x="0" y="289560"/>
                  </a:cubicBezTo>
                  <a:close/>
                </a:path>
              </a:pathLst>
            </a:custGeom>
            <a:solidFill>
              <a:srgbClr val="14117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579120" cy="58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4"/>
                </a:lnSpc>
              </a:pPr>
              <a:r>
                <a:rPr lang="en-US" sz="207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28650" y="8256270"/>
            <a:ext cx="4343400" cy="9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340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사진 ID로 선택 항목 관리</a:t>
            </a:r>
          </a:p>
          <a:p>
            <a:pPr algn="l">
              <a:lnSpc>
                <a:spcPts val="2808"/>
              </a:lnSpc>
            </a:pPr>
            <a:r>
              <a:rPr lang="en-US" sz="2340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지도 위치 이동 · 선택 강조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315226" y="2068830"/>
            <a:ext cx="7863278" cy="6949440"/>
            <a:chOff x="0" y="0"/>
            <a:chExt cx="10484371" cy="92659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484358" cy="9265920"/>
            </a:xfrm>
            <a:custGeom>
              <a:avLst/>
              <a:gdLst/>
              <a:ahLst/>
              <a:cxnLst/>
              <a:rect l="l" t="t" r="r" b="b"/>
              <a:pathLst>
                <a:path w="10484358" h="9265920">
                  <a:moveTo>
                    <a:pt x="0" y="0"/>
                  </a:moveTo>
                  <a:lnTo>
                    <a:pt x="10484358" y="0"/>
                  </a:lnTo>
                  <a:lnTo>
                    <a:pt x="10484358" y="9265920"/>
                  </a:lnTo>
                  <a:lnTo>
                    <a:pt x="0" y="926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755880" y="7109460"/>
            <a:ext cx="434340" cy="434340"/>
            <a:chOff x="0" y="0"/>
            <a:chExt cx="579120" cy="5791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79120" cy="579120"/>
            </a:xfrm>
            <a:custGeom>
              <a:avLst/>
              <a:gdLst/>
              <a:ahLst/>
              <a:cxnLst/>
              <a:rect l="l" t="t" r="r" b="b"/>
              <a:pathLst>
                <a:path w="579120" h="579120">
                  <a:moveTo>
                    <a:pt x="0" y="289560"/>
                  </a:moveTo>
                  <a:cubicBezTo>
                    <a:pt x="0" y="129667"/>
                    <a:pt x="129667" y="0"/>
                    <a:pt x="289560" y="0"/>
                  </a:cubicBezTo>
                  <a:cubicBezTo>
                    <a:pt x="449453" y="0"/>
                    <a:pt x="579120" y="129667"/>
                    <a:pt x="579120" y="289560"/>
                  </a:cubicBezTo>
                  <a:cubicBezTo>
                    <a:pt x="579120" y="449453"/>
                    <a:pt x="449453" y="579120"/>
                    <a:pt x="289560" y="579120"/>
                  </a:cubicBezTo>
                  <a:cubicBezTo>
                    <a:pt x="129667" y="579120"/>
                    <a:pt x="0" y="449453"/>
                    <a:pt x="0" y="289560"/>
                  </a:cubicBezTo>
                  <a:close/>
                </a:path>
              </a:pathLst>
            </a:custGeom>
            <a:solidFill>
              <a:srgbClr val="14117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579120" cy="58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4"/>
                </a:lnSpc>
              </a:pPr>
              <a:r>
                <a:rPr lang="en-US" sz="207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830300" y="2209800"/>
            <a:ext cx="3771900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사진 ID 기반 조회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830300" y="2998470"/>
            <a:ext cx="3771900" cy="17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사진 ID로 정보를 조회해</a:t>
            </a:r>
          </a:p>
          <a:p>
            <a:pPr algn="l">
              <a:lnSpc>
                <a:spcPts val="2915"/>
              </a:lnSpc>
            </a:pPr>
            <a:r>
              <a:rPr lang="en-US" sz="2429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설명·시간·위치를</a:t>
            </a:r>
          </a:p>
          <a:p>
            <a:pPr algn="l">
              <a:lnSpc>
                <a:spcPts val="2915"/>
              </a:lnSpc>
            </a:pPr>
            <a:r>
              <a:rPr lang="en-US" sz="2429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모달 창에 표시합니다.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830300" y="5568315"/>
            <a:ext cx="3771900" cy="48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1">
                <a:solidFill>
                  <a:srgbClr val="14117A"/>
                </a:solidFill>
                <a:latin typeface="Arimo Bold"/>
                <a:ea typeface="Arimo Bold"/>
                <a:cs typeface="Arimo Bold"/>
                <a:sym typeface="Arimo Bold"/>
              </a:rPr>
              <a:t>좋아요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830300" y="6290310"/>
            <a:ext cx="3771900" cy="136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로그인 여부를 확인한 뒤</a:t>
            </a:r>
          </a:p>
          <a:p>
            <a:pPr algn="l">
              <a:lnSpc>
                <a:spcPts val="2915"/>
              </a:lnSpc>
            </a:pPr>
            <a:r>
              <a:rPr lang="en-US" sz="2429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등록·취소를 처리하고</a:t>
            </a:r>
          </a:p>
          <a:p>
            <a:pPr algn="l">
              <a:lnSpc>
                <a:spcPts val="2915"/>
              </a:lnSpc>
            </a:pPr>
            <a:r>
              <a:rPr lang="en-US" sz="2429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좋아요 수에 반영합니다.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830300" y="8027670"/>
            <a:ext cx="377190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상세창을 닫으면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지도 탐색을 이어갈 수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740322"/>
            <a:ext cx="18288000" cy="8546678"/>
            <a:chOff x="0" y="0"/>
            <a:chExt cx="4816593" cy="22509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250977"/>
            </a:xfrm>
            <a:custGeom>
              <a:avLst/>
              <a:gdLst/>
              <a:ahLst/>
              <a:cxnLst/>
              <a:rect l="l" t="t" r="r" b="b"/>
              <a:pathLst>
                <a:path w="4816592" h="2250977">
                  <a:moveTo>
                    <a:pt x="0" y="0"/>
                  </a:moveTo>
                  <a:lnTo>
                    <a:pt x="4816592" y="0"/>
                  </a:lnTo>
                  <a:lnTo>
                    <a:pt x="4816592" y="2250977"/>
                  </a:lnTo>
                  <a:lnTo>
                    <a:pt x="0" y="22509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289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3092" y="622300"/>
            <a:ext cx="13344523" cy="820738"/>
            <a:chOff x="0" y="-38100"/>
            <a:chExt cx="17792697" cy="1094317"/>
          </a:xfrm>
        </p:grpSpPr>
        <p:sp>
          <p:nvSpPr>
            <p:cNvPr id="6" name="TextBox 6"/>
            <p:cNvSpPr txBox="1"/>
            <p:nvPr/>
          </p:nvSpPr>
          <p:spPr>
            <a:xfrm>
              <a:off x="0" y="-38100"/>
              <a:ext cx="16075519" cy="1094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1" lvl="1" algn="l">
                <a:lnSpc>
                  <a:spcPts val="6350"/>
                </a:lnSpc>
              </a:pP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3. </a:t>
              </a: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시스템</a:t>
              </a: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 </a:t>
              </a: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설계</a:t>
              </a: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 - </a:t>
              </a: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로그인</a:t>
              </a: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 </a:t>
              </a: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페이지</a:t>
              </a:r>
              <a:endPara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67809" y="486198"/>
              <a:ext cx="11724888" cy="52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4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39829" y="2424088"/>
            <a:ext cx="8244219" cy="7179147"/>
          </a:xfrm>
          <a:custGeom>
            <a:avLst/>
            <a:gdLst/>
            <a:ahLst/>
            <a:cxnLst/>
            <a:rect l="l" t="t" r="r" b="b"/>
            <a:pathLst>
              <a:path w="8244219" h="7179147">
                <a:moveTo>
                  <a:pt x="0" y="0"/>
                </a:moveTo>
                <a:lnTo>
                  <a:pt x="8244218" y="0"/>
                </a:lnTo>
                <a:lnTo>
                  <a:pt x="8244218" y="7179146"/>
                </a:lnTo>
                <a:lnTo>
                  <a:pt x="0" y="7179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0" r="-910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9517430" y="2632702"/>
            <a:ext cx="8218916" cy="6970532"/>
            <a:chOff x="0" y="0"/>
            <a:chExt cx="10958555" cy="9294042"/>
          </a:xfrm>
        </p:grpSpPr>
        <p:sp>
          <p:nvSpPr>
            <p:cNvPr id="10" name="AutoShape 10"/>
            <p:cNvSpPr/>
            <p:nvPr/>
          </p:nvSpPr>
          <p:spPr>
            <a:xfrm>
              <a:off x="0" y="5342771"/>
              <a:ext cx="10063871" cy="0"/>
            </a:xfrm>
            <a:prstGeom prst="line">
              <a:avLst/>
            </a:prstGeom>
            <a:ln w="25400" cap="flat">
              <a:solidFill>
                <a:srgbClr val="D1DAE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8415" y="1285394"/>
              <a:ext cx="10550140" cy="3378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6569" lvl="1" indent="-248284" algn="l">
                <a:lnSpc>
                  <a:spcPts val="3449"/>
                </a:lnSpc>
                <a:buFont typeface="Arial"/>
                <a:buChar char="•"/>
              </a:pPr>
              <a:r>
                <a:rPr lang="en-US" sz="2299" spc="-68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입력한 로그인 정보를 Node 서버로 POST 전송</a:t>
              </a:r>
            </a:p>
            <a:p>
              <a:pPr marL="496569" lvl="1" indent="-248284" algn="l">
                <a:lnSpc>
                  <a:spcPts val="3449"/>
                </a:lnSpc>
                <a:buFont typeface="Arial"/>
                <a:buChar char="•"/>
              </a:pPr>
              <a:r>
                <a:rPr lang="en-US" sz="2299" spc="-68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Node 서버가 학교 인증 서버에 해당 정보를 보내 인증 요청</a:t>
              </a:r>
            </a:p>
            <a:p>
              <a:pPr marL="496569" lvl="1" indent="-248284" algn="l">
                <a:lnSpc>
                  <a:spcPts val="3449"/>
                </a:lnSpc>
                <a:buFont typeface="Arial"/>
                <a:buChar char="•"/>
              </a:pPr>
              <a:r>
                <a:rPr lang="en-US" sz="2299" spc="-68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학교 응답의 sToken 쿠키 발급 여부로 로그인 성공 판단</a:t>
              </a:r>
            </a:p>
            <a:p>
              <a:pPr marL="993138" lvl="2" indent="-331046" algn="just">
                <a:lnSpc>
                  <a:spcPts val="3449"/>
                </a:lnSpc>
                <a:buFont typeface="Arial"/>
                <a:buChar char="⚬"/>
              </a:pPr>
              <a:r>
                <a:rPr lang="en-US" sz="2299" spc="-68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성공 -서비스 로그인 세션을 생성 &amp; 메인 화면으로 이동</a:t>
              </a:r>
            </a:p>
            <a:p>
              <a:pPr marL="993138" lvl="2" indent="-331046" algn="just">
                <a:lnSpc>
                  <a:spcPts val="3449"/>
                </a:lnSpc>
                <a:buFont typeface="Arial"/>
                <a:buChar char="⚬"/>
              </a:pPr>
              <a:r>
                <a:rPr lang="en-US" sz="2299" spc="-68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실패 - 오류 메시지 표시 &amp; 재입력 안내</a:t>
              </a:r>
            </a:p>
            <a:p>
              <a:pPr marL="496569" lvl="1" indent="-248284" algn="l">
                <a:lnSpc>
                  <a:spcPts val="3449"/>
                </a:lnSpc>
                <a:buFont typeface="Arial"/>
                <a:buChar char="•"/>
              </a:pPr>
              <a:r>
                <a:rPr lang="en-US" sz="2299" spc="-68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비밀번호는 데이터베이스에 저장X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8415" y="7058207"/>
              <a:ext cx="8921765" cy="2235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6569" lvl="1" indent="-248284" algn="l">
                <a:lnSpc>
                  <a:spcPts val="3449"/>
                </a:lnSpc>
                <a:buFont typeface="Arial"/>
                <a:buChar char="•"/>
              </a:pPr>
              <a:r>
                <a:rPr lang="en-US" sz="2299" spc="-68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로그아웃 시 서비스 세션과 쿠키 삭제</a:t>
              </a:r>
            </a:p>
            <a:p>
              <a:pPr marL="496569" lvl="1" indent="-248284" algn="l">
                <a:lnSpc>
                  <a:spcPts val="3449"/>
                </a:lnSpc>
                <a:buFont typeface="Arial"/>
                <a:buChar char="•"/>
              </a:pPr>
              <a:r>
                <a:rPr lang="en-US" sz="2299" spc="-68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로그인 없이 사진·지도 조회 가능</a:t>
              </a:r>
            </a:p>
            <a:p>
              <a:pPr marL="993138" lvl="2" indent="-331046" algn="l">
                <a:lnSpc>
                  <a:spcPts val="3449"/>
                </a:lnSpc>
                <a:buFont typeface="Arial"/>
                <a:buChar char="⚬"/>
              </a:pPr>
              <a:r>
                <a:rPr lang="en-US" sz="2299" spc="-68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사진 등록과 좋아요는 로그인 필요</a:t>
              </a:r>
            </a:p>
            <a:p>
              <a:pPr algn="l">
                <a:lnSpc>
                  <a:spcPts val="3449"/>
                </a:lnSpc>
              </a:pPr>
              <a:endParaRPr lang="en-US" sz="2299" spc="-68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3925634" cy="987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9"/>
                </a:lnSpc>
                <a:spcBef>
                  <a:spcPct val="0"/>
                </a:spcBef>
              </a:pPr>
              <a:r>
                <a:rPr lang="en-US" sz="4499" b="1">
                  <a:solidFill>
                    <a:srgbClr val="0F148D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로그인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5705657"/>
              <a:ext cx="7764211" cy="987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9"/>
                </a:lnSpc>
                <a:spcBef>
                  <a:spcPct val="0"/>
                </a:spcBef>
              </a:pPr>
              <a:r>
                <a:rPr lang="en-US" sz="4499" b="1">
                  <a:solidFill>
                    <a:srgbClr val="0F148D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로그아웃 &amp; 둘러보기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740322"/>
            <a:ext cx="18288000" cy="8546678"/>
            <a:chOff x="0" y="0"/>
            <a:chExt cx="4816593" cy="22509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250977"/>
            </a:xfrm>
            <a:custGeom>
              <a:avLst/>
              <a:gdLst/>
              <a:ahLst/>
              <a:cxnLst/>
              <a:rect l="l" t="t" r="r" b="b"/>
              <a:pathLst>
                <a:path w="4816592" h="2250977">
                  <a:moveTo>
                    <a:pt x="0" y="0"/>
                  </a:moveTo>
                  <a:lnTo>
                    <a:pt x="4816592" y="0"/>
                  </a:lnTo>
                  <a:lnTo>
                    <a:pt x="4816592" y="2250977"/>
                  </a:lnTo>
                  <a:lnTo>
                    <a:pt x="0" y="22509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289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3092" y="612775"/>
            <a:ext cx="12056639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algn="l">
              <a:lnSpc>
                <a:spcPts val="6350"/>
              </a:lnSpc>
            </a:pP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3.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시스템</a:t>
            </a: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설계</a:t>
            </a: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-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사진</a:t>
            </a: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등록</a:t>
            </a: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페이지</a:t>
            </a:r>
            <a:endParaRPr lang="en-US" sz="5000" dirty="0">
              <a:solidFill>
                <a:srgbClr val="0F148D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7740823" y="4840500"/>
            <a:ext cx="10164165" cy="4231872"/>
          </a:xfrm>
          <a:custGeom>
            <a:avLst/>
            <a:gdLst/>
            <a:ahLst/>
            <a:cxnLst/>
            <a:rect l="l" t="t" r="r" b="b"/>
            <a:pathLst>
              <a:path w="10164165" h="4231872">
                <a:moveTo>
                  <a:pt x="0" y="0"/>
                </a:moveTo>
                <a:lnTo>
                  <a:pt x="10164165" y="0"/>
                </a:lnTo>
                <a:lnTo>
                  <a:pt x="10164165" y="4231872"/>
                </a:lnTo>
                <a:lnTo>
                  <a:pt x="0" y="423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308472" y="3307726"/>
            <a:ext cx="8079411" cy="1653316"/>
          </a:xfrm>
          <a:custGeom>
            <a:avLst/>
            <a:gdLst/>
            <a:ahLst/>
            <a:cxnLst/>
            <a:rect l="l" t="t" r="r" b="b"/>
            <a:pathLst>
              <a:path w="8079411" h="1653316">
                <a:moveTo>
                  <a:pt x="0" y="0"/>
                </a:moveTo>
                <a:lnTo>
                  <a:pt x="8079411" y="0"/>
                </a:lnTo>
                <a:lnTo>
                  <a:pt x="8079411" y="1653315"/>
                </a:lnTo>
                <a:lnTo>
                  <a:pt x="0" y="1653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8811342" y="9182100"/>
            <a:ext cx="8838935" cy="448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490" spc="-7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▲ 파일 선택 버튼을 클릭해 저장소에 있는 사진을 업로드 할 수 있다.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57709" y="5302164"/>
            <a:ext cx="5644781" cy="914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490" spc="-7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▲ 페이지 상단 대시보드의 사진 남기기를 통해 사진을 등록할 수 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740322"/>
            <a:ext cx="18288000" cy="8546678"/>
            <a:chOff x="0" y="0"/>
            <a:chExt cx="4816593" cy="22509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250977"/>
            </a:xfrm>
            <a:custGeom>
              <a:avLst/>
              <a:gdLst/>
              <a:ahLst/>
              <a:cxnLst/>
              <a:rect l="l" t="t" r="r" b="b"/>
              <a:pathLst>
                <a:path w="4816592" h="2250977">
                  <a:moveTo>
                    <a:pt x="0" y="0"/>
                  </a:moveTo>
                  <a:lnTo>
                    <a:pt x="4816592" y="0"/>
                  </a:lnTo>
                  <a:lnTo>
                    <a:pt x="4816592" y="2250977"/>
                  </a:lnTo>
                  <a:lnTo>
                    <a:pt x="0" y="22509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289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3092" y="612775"/>
            <a:ext cx="12056639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algn="l">
              <a:lnSpc>
                <a:spcPts val="6350"/>
              </a:lnSpc>
            </a:pP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3.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시스템</a:t>
            </a: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설계</a:t>
            </a: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-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사진</a:t>
            </a: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등록</a:t>
            </a: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페이지</a:t>
            </a:r>
            <a:endParaRPr lang="en-US" sz="5000" dirty="0">
              <a:solidFill>
                <a:srgbClr val="0F148D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849031" y="1822241"/>
            <a:ext cx="9198273" cy="7991569"/>
          </a:xfrm>
          <a:custGeom>
            <a:avLst/>
            <a:gdLst/>
            <a:ahLst/>
            <a:cxnLst/>
            <a:rect l="l" t="t" r="r" b="b"/>
            <a:pathLst>
              <a:path w="9198273" h="7991569">
                <a:moveTo>
                  <a:pt x="0" y="0"/>
                </a:moveTo>
                <a:lnTo>
                  <a:pt x="9198273" y="0"/>
                </a:lnTo>
                <a:lnTo>
                  <a:pt x="9198273" y="7991569"/>
                </a:lnTo>
                <a:lnTo>
                  <a:pt x="0" y="79915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8721244" y="4661340"/>
            <a:ext cx="9353454" cy="3399125"/>
          </a:xfrm>
          <a:custGeom>
            <a:avLst/>
            <a:gdLst/>
            <a:ahLst/>
            <a:cxnLst/>
            <a:rect l="l" t="t" r="r" b="b"/>
            <a:pathLst>
              <a:path w="9353454" h="3399125">
                <a:moveTo>
                  <a:pt x="0" y="0"/>
                </a:moveTo>
                <a:lnTo>
                  <a:pt x="9353455" y="0"/>
                </a:lnTo>
                <a:lnTo>
                  <a:pt x="9353455" y="3399125"/>
                </a:lnTo>
                <a:lnTo>
                  <a:pt x="0" y="3399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0282168" y="2720159"/>
            <a:ext cx="8838935" cy="914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490" spc="-7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◀ 지도에서 원하는 위치를 선택하여 사진을 등록할 수 있다.</a:t>
            </a:r>
          </a:p>
          <a:p>
            <a:pPr algn="l">
              <a:lnSpc>
                <a:spcPts val="3735"/>
              </a:lnSpc>
            </a:pPr>
            <a:r>
              <a:rPr lang="en-US" sz="2490" spc="-7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               (위도와 경도를 직접 입력하여 등록 가능)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2168" y="7969114"/>
            <a:ext cx="6977132" cy="914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490" spc="-7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▲ 사진을 촬영한 시간과 한 줄 설명을 통해 사진의 상황을 정확하게 전달할 수 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740322"/>
            <a:ext cx="18288000" cy="8546678"/>
            <a:chOff x="0" y="0"/>
            <a:chExt cx="4816593" cy="22509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250977"/>
            </a:xfrm>
            <a:custGeom>
              <a:avLst/>
              <a:gdLst/>
              <a:ahLst/>
              <a:cxnLst/>
              <a:rect l="l" t="t" r="r" b="b"/>
              <a:pathLst>
                <a:path w="4816592" h="2250977">
                  <a:moveTo>
                    <a:pt x="0" y="0"/>
                  </a:moveTo>
                  <a:lnTo>
                    <a:pt x="4816592" y="0"/>
                  </a:lnTo>
                  <a:lnTo>
                    <a:pt x="4816592" y="2250977"/>
                  </a:lnTo>
                  <a:lnTo>
                    <a:pt x="0" y="22509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289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04307" y="2359228"/>
            <a:ext cx="10397047" cy="7454453"/>
          </a:xfrm>
          <a:custGeom>
            <a:avLst/>
            <a:gdLst/>
            <a:ahLst/>
            <a:cxnLst/>
            <a:rect l="l" t="t" r="r" b="b"/>
            <a:pathLst>
              <a:path w="10397047" h="7454453">
                <a:moveTo>
                  <a:pt x="0" y="0"/>
                </a:moveTo>
                <a:lnTo>
                  <a:pt x="10397046" y="0"/>
                </a:lnTo>
                <a:lnTo>
                  <a:pt x="10397046" y="7454453"/>
                </a:lnTo>
                <a:lnTo>
                  <a:pt x="0" y="7454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86" t="-25325" r="-4477" b="-49340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604307" y="3348919"/>
            <a:ext cx="10397047" cy="3972252"/>
            <a:chOff x="0" y="0"/>
            <a:chExt cx="2477768" cy="9466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77768" cy="946646"/>
            </a:xfrm>
            <a:custGeom>
              <a:avLst/>
              <a:gdLst/>
              <a:ahLst/>
              <a:cxnLst/>
              <a:rect l="l" t="t" r="r" b="b"/>
              <a:pathLst>
                <a:path w="2477768" h="946646">
                  <a:moveTo>
                    <a:pt x="0" y="0"/>
                  </a:moveTo>
                  <a:lnTo>
                    <a:pt x="2477768" y="0"/>
                  </a:lnTo>
                  <a:lnTo>
                    <a:pt x="2477768" y="946646"/>
                  </a:lnTo>
                  <a:lnTo>
                    <a:pt x="0" y="946646"/>
                  </a:lnTo>
                  <a:close/>
                </a:path>
              </a:pathLst>
            </a:custGeom>
            <a:ln w="38100" cap="sq">
              <a:solidFill>
                <a:srgbClr val="0F148D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477768" cy="1022846"/>
            </a:xfrm>
            <a:prstGeom prst="rect">
              <a:avLst/>
            </a:prstGeom>
          </p:spPr>
          <p:txBody>
            <a:bodyPr lIns="56142" tIns="56142" rIns="56142" bIns="56142" rtlCol="0" anchor="ctr"/>
            <a:lstStyle/>
            <a:p>
              <a:pPr algn="ctr">
                <a:lnSpc>
                  <a:spcPts val="3735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4307" y="7445768"/>
            <a:ext cx="10397047" cy="2120412"/>
            <a:chOff x="0" y="0"/>
            <a:chExt cx="2477768" cy="5053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77768" cy="505325"/>
            </a:xfrm>
            <a:custGeom>
              <a:avLst/>
              <a:gdLst/>
              <a:ahLst/>
              <a:cxnLst/>
              <a:rect l="l" t="t" r="r" b="b"/>
              <a:pathLst>
                <a:path w="2477768" h="505325">
                  <a:moveTo>
                    <a:pt x="0" y="0"/>
                  </a:moveTo>
                  <a:lnTo>
                    <a:pt x="2477768" y="0"/>
                  </a:lnTo>
                  <a:lnTo>
                    <a:pt x="2477768" y="505325"/>
                  </a:lnTo>
                  <a:lnTo>
                    <a:pt x="0" y="505325"/>
                  </a:lnTo>
                  <a:close/>
                </a:path>
              </a:pathLst>
            </a:custGeom>
            <a:ln w="38100" cap="sq">
              <a:solidFill>
                <a:srgbClr val="0F148D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2477768" cy="581525"/>
            </a:xfrm>
            <a:prstGeom prst="rect">
              <a:avLst/>
            </a:prstGeom>
          </p:spPr>
          <p:txBody>
            <a:bodyPr lIns="56142" tIns="56142" rIns="56142" bIns="56142" rtlCol="0" anchor="ctr"/>
            <a:lstStyle/>
            <a:p>
              <a:pPr algn="ctr">
                <a:lnSpc>
                  <a:spcPts val="3735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4307" y="2359228"/>
            <a:ext cx="3792893" cy="900446"/>
            <a:chOff x="0" y="0"/>
            <a:chExt cx="903902" cy="2145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3902" cy="214589"/>
            </a:xfrm>
            <a:custGeom>
              <a:avLst/>
              <a:gdLst/>
              <a:ahLst/>
              <a:cxnLst/>
              <a:rect l="l" t="t" r="r" b="b"/>
              <a:pathLst>
                <a:path w="903902" h="214589">
                  <a:moveTo>
                    <a:pt x="0" y="0"/>
                  </a:moveTo>
                  <a:lnTo>
                    <a:pt x="903902" y="0"/>
                  </a:lnTo>
                  <a:lnTo>
                    <a:pt x="903902" y="214589"/>
                  </a:lnTo>
                  <a:lnTo>
                    <a:pt x="0" y="214589"/>
                  </a:lnTo>
                  <a:close/>
                </a:path>
              </a:pathLst>
            </a:custGeom>
            <a:ln w="38100" cap="sq">
              <a:solidFill>
                <a:srgbClr val="0F148D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903902" cy="290789"/>
            </a:xfrm>
            <a:prstGeom prst="rect">
              <a:avLst/>
            </a:prstGeom>
          </p:spPr>
          <p:txBody>
            <a:bodyPr lIns="56142" tIns="56142" rIns="56142" bIns="56142" rtlCol="0" anchor="ctr"/>
            <a:lstStyle/>
            <a:p>
              <a:pPr algn="ctr">
                <a:lnSpc>
                  <a:spcPts val="3735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09515" y="2094213"/>
            <a:ext cx="533299" cy="53329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148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2225" tIns="52225" rIns="52225" bIns="52225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1999" spc="-59">
                  <a:solidFill>
                    <a:srgbClr val="FFFFFF"/>
                  </a:solidFill>
                  <a:latin typeface="210 네버랜드 Bold"/>
                  <a:ea typeface="210 네버랜드 Bold"/>
                  <a:cs typeface="210 네버랜드 Bold"/>
                  <a:sym typeface="210 네버랜드 Bold"/>
                </a:rPr>
                <a:t>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71611" y="3319542"/>
            <a:ext cx="533299" cy="53329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148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2225" tIns="52225" rIns="52225" bIns="52225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1999" spc="-59">
                  <a:solidFill>
                    <a:srgbClr val="FFFFFF"/>
                  </a:solidFill>
                  <a:latin typeface="210 네버랜드 Bold"/>
                  <a:ea typeface="210 네버랜드 Bold"/>
                  <a:cs typeface="210 네버랜드 Bold"/>
                  <a:sym typeface="210 네버랜드 Bold"/>
                </a:rPr>
                <a:t>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85120" y="7409300"/>
            <a:ext cx="533299" cy="533299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148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2225" tIns="52225" rIns="52225" bIns="52225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1999" spc="-59">
                  <a:solidFill>
                    <a:srgbClr val="FFFFFF"/>
                  </a:solidFill>
                  <a:latin typeface="210 네버랜드 Bold"/>
                  <a:ea typeface="210 네버랜드 Bold"/>
                  <a:cs typeface="210 네버랜드 Bold"/>
                  <a:sym typeface="210 네버랜드 Bold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261508" y="2057400"/>
            <a:ext cx="6513188" cy="4784593"/>
            <a:chOff x="0" y="0"/>
            <a:chExt cx="1715408" cy="12601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15408" cy="1260140"/>
            </a:xfrm>
            <a:custGeom>
              <a:avLst/>
              <a:gdLst/>
              <a:ahLst/>
              <a:cxnLst/>
              <a:rect l="l" t="t" r="r" b="b"/>
              <a:pathLst>
                <a:path w="1715408" h="1260140">
                  <a:moveTo>
                    <a:pt x="41603" y="0"/>
                  </a:moveTo>
                  <a:lnTo>
                    <a:pt x="1673805" y="0"/>
                  </a:lnTo>
                  <a:cubicBezTo>
                    <a:pt x="1684839" y="0"/>
                    <a:pt x="1695421" y="4383"/>
                    <a:pt x="1703223" y="12185"/>
                  </a:cubicBezTo>
                  <a:cubicBezTo>
                    <a:pt x="1711025" y="19987"/>
                    <a:pt x="1715408" y="30569"/>
                    <a:pt x="1715408" y="41603"/>
                  </a:cubicBezTo>
                  <a:lnTo>
                    <a:pt x="1715408" y="1218537"/>
                  </a:lnTo>
                  <a:cubicBezTo>
                    <a:pt x="1715408" y="1241514"/>
                    <a:pt x="1696782" y="1260140"/>
                    <a:pt x="1673805" y="1260140"/>
                  </a:cubicBezTo>
                  <a:lnTo>
                    <a:pt x="41603" y="1260140"/>
                  </a:lnTo>
                  <a:cubicBezTo>
                    <a:pt x="18626" y="1260140"/>
                    <a:pt x="0" y="1241514"/>
                    <a:pt x="0" y="1218537"/>
                  </a:cubicBezTo>
                  <a:lnTo>
                    <a:pt x="0" y="41603"/>
                  </a:lnTo>
                  <a:cubicBezTo>
                    <a:pt x="0" y="18626"/>
                    <a:pt x="18626" y="0"/>
                    <a:pt x="41603" y="0"/>
                  </a:cubicBezTo>
                  <a:close/>
                </a:path>
              </a:pathLst>
            </a:custGeom>
            <a:solidFill>
              <a:srgbClr val="EEF2F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1715408" cy="1336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35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823091" y="3761753"/>
            <a:ext cx="3370230" cy="2901798"/>
            <a:chOff x="0" y="0"/>
            <a:chExt cx="4493639" cy="3869064"/>
          </a:xfrm>
        </p:grpSpPr>
        <p:sp>
          <p:nvSpPr>
            <p:cNvPr id="28" name="Freeform 28"/>
            <p:cNvSpPr/>
            <p:nvPr/>
          </p:nvSpPr>
          <p:spPr>
            <a:xfrm>
              <a:off x="0" y="78464"/>
              <a:ext cx="4493639" cy="3790600"/>
            </a:xfrm>
            <a:custGeom>
              <a:avLst/>
              <a:gdLst/>
              <a:ahLst/>
              <a:cxnLst/>
              <a:rect l="l" t="t" r="r" b="b"/>
              <a:pathLst>
                <a:path w="4493639" h="3790600">
                  <a:moveTo>
                    <a:pt x="0" y="0"/>
                  </a:moveTo>
                  <a:lnTo>
                    <a:pt x="4493639" y="0"/>
                  </a:lnTo>
                  <a:lnTo>
                    <a:pt x="4493639" y="3790600"/>
                  </a:lnTo>
                  <a:lnTo>
                    <a:pt x="0" y="37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7444" t="-65696" r="-250684" b="-4334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0" y="0"/>
              <a:ext cx="4493639" cy="3869064"/>
              <a:chOff x="0" y="0"/>
              <a:chExt cx="995441" cy="85708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995441" cy="857083"/>
              </a:xfrm>
              <a:custGeom>
                <a:avLst/>
                <a:gdLst/>
                <a:ahLst/>
                <a:cxnLst/>
                <a:rect l="l" t="t" r="r" b="b"/>
                <a:pathLst>
                  <a:path w="995441" h="857083">
                    <a:moveTo>
                      <a:pt x="0" y="0"/>
                    </a:moveTo>
                    <a:lnTo>
                      <a:pt x="995441" y="0"/>
                    </a:lnTo>
                    <a:lnTo>
                      <a:pt x="995441" y="857083"/>
                    </a:lnTo>
                    <a:lnTo>
                      <a:pt x="0" y="857083"/>
                    </a:lnTo>
                    <a:close/>
                  </a:path>
                </a:pathLst>
              </a:custGeom>
              <a:ln w="38100" cap="sq">
                <a:solidFill>
                  <a:srgbClr val="0F148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76200"/>
                <a:ext cx="995441" cy="933283"/>
              </a:xfrm>
              <a:prstGeom prst="rect">
                <a:avLst/>
              </a:prstGeom>
            </p:spPr>
            <p:txBody>
              <a:bodyPr lIns="44215" tIns="44215" rIns="44215" bIns="44215" rtlCol="0" anchor="ctr"/>
              <a:lstStyle/>
              <a:p>
                <a:pPr algn="ctr">
                  <a:lnSpc>
                    <a:spcPts val="3735"/>
                  </a:lnSpc>
                </a:pPr>
                <a:endParaRPr/>
              </a:p>
            </p:txBody>
          </p:sp>
        </p:grpSp>
      </p:grpSp>
      <p:sp>
        <p:nvSpPr>
          <p:cNvPr id="32" name="TextBox 32"/>
          <p:cNvSpPr txBox="1"/>
          <p:nvPr/>
        </p:nvSpPr>
        <p:spPr>
          <a:xfrm>
            <a:off x="15274160" y="5469234"/>
            <a:ext cx="2400714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sz="2100" spc="-63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◀ 회원 등급</a:t>
            </a:r>
          </a:p>
          <a:p>
            <a:pPr algn="just">
              <a:lnSpc>
                <a:spcPts val="3150"/>
              </a:lnSpc>
            </a:pPr>
            <a:r>
              <a:rPr lang="en-US" sz="2100" spc="-63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   사용자 참여 유도 </a:t>
            </a:r>
          </a:p>
          <a:p>
            <a:pPr algn="just">
              <a:lnSpc>
                <a:spcPts val="3150"/>
              </a:lnSpc>
            </a:pPr>
            <a:r>
              <a:rPr lang="en-US" sz="2100" spc="-63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   장치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20845" y="2901524"/>
            <a:ext cx="5118077" cy="73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90"/>
              </a:lnSpc>
            </a:pPr>
            <a:r>
              <a:rPr lang="en-US" sz="2300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닉네임 옆에 업로드 장수로 계산한 7단계 </a:t>
            </a:r>
          </a:p>
          <a:p>
            <a:pPr algn="just">
              <a:lnSpc>
                <a:spcPts val="2990"/>
              </a:lnSpc>
            </a:pPr>
            <a:r>
              <a:rPr lang="en-US" sz="2300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회원 등급 표시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1635229" y="2364360"/>
            <a:ext cx="3777983" cy="518749"/>
            <a:chOff x="0" y="0"/>
            <a:chExt cx="5037310" cy="691665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691665" cy="691665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148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r>
                  <a:rPr lang="en-US" sz="2000" spc="-60">
                    <a:solidFill>
                      <a:srgbClr val="FFFFFF"/>
                    </a:solidFill>
                    <a:latin typeface="210 네버랜드 Bold"/>
                    <a:ea typeface="210 네버랜드 Bold"/>
                    <a:cs typeface="210 네버랜드 Bold"/>
                    <a:sym typeface="210 네버랜드 Bold"/>
                  </a:rPr>
                  <a:t>1</a:t>
                </a:r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914155" y="-44693"/>
              <a:ext cx="4123155" cy="69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499"/>
                </a:lnSpc>
              </a:pPr>
              <a:r>
                <a:rPr lang="en-US" sz="2999" spc="-89">
                  <a:solidFill>
                    <a:srgbClr val="0F148D"/>
                  </a:solidFill>
                  <a:latin typeface="210 밀레니얼"/>
                  <a:ea typeface="210 밀레니얼"/>
                  <a:cs typeface="210 밀레니얼"/>
                  <a:sym typeface="210 밀레니얼"/>
                </a:rPr>
                <a:t>프로필 · 회원 등급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23092" y="612775"/>
            <a:ext cx="12056639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algn="l">
              <a:lnSpc>
                <a:spcPts val="6350"/>
              </a:lnSpc>
            </a:pP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3.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시스템</a:t>
            </a: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설계</a:t>
            </a: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-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마이페이지</a:t>
            </a:r>
            <a:endParaRPr lang="en-US" sz="5000" dirty="0">
              <a:solidFill>
                <a:srgbClr val="0F148D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166868" y="9516590"/>
            <a:ext cx="6977132" cy="448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5"/>
              </a:lnSpc>
            </a:pPr>
            <a:r>
              <a:rPr lang="en-US" sz="2490" spc="-7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▲ 마이페이지 메인 화면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1261508" y="6987400"/>
            <a:ext cx="6513188" cy="1280672"/>
            <a:chOff x="0" y="0"/>
            <a:chExt cx="8684251" cy="1707563"/>
          </a:xfrm>
        </p:grpSpPr>
        <p:grpSp>
          <p:nvGrpSpPr>
            <p:cNvPr id="42" name="Group 42"/>
            <p:cNvGrpSpPr/>
            <p:nvPr/>
          </p:nvGrpSpPr>
          <p:grpSpPr>
            <a:xfrm>
              <a:off x="0" y="0"/>
              <a:ext cx="8684251" cy="1707563"/>
              <a:chOff x="0" y="0"/>
              <a:chExt cx="1715408" cy="33729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715408" cy="337296"/>
              </a:xfrm>
              <a:custGeom>
                <a:avLst/>
                <a:gdLst/>
                <a:ahLst/>
                <a:cxnLst/>
                <a:rect l="l" t="t" r="r" b="b"/>
                <a:pathLst>
                  <a:path w="1715408" h="337296">
                    <a:moveTo>
                      <a:pt x="41603" y="0"/>
                    </a:moveTo>
                    <a:lnTo>
                      <a:pt x="1673805" y="0"/>
                    </a:lnTo>
                    <a:cubicBezTo>
                      <a:pt x="1684839" y="0"/>
                      <a:pt x="1695421" y="4383"/>
                      <a:pt x="1703223" y="12185"/>
                    </a:cubicBezTo>
                    <a:cubicBezTo>
                      <a:pt x="1711025" y="19987"/>
                      <a:pt x="1715408" y="30569"/>
                      <a:pt x="1715408" y="41603"/>
                    </a:cubicBezTo>
                    <a:lnTo>
                      <a:pt x="1715408" y="295694"/>
                    </a:lnTo>
                    <a:cubicBezTo>
                      <a:pt x="1715408" y="318670"/>
                      <a:pt x="1696782" y="337296"/>
                      <a:pt x="1673805" y="337296"/>
                    </a:cubicBezTo>
                    <a:lnTo>
                      <a:pt x="41603" y="337296"/>
                    </a:lnTo>
                    <a:cubicBezTo>
                      <a:pt x="18626" y="337296"/>
                      <a:pt x="0" y="318670"/>
                      <a:pt x="0" y="295694"/>
                    </a:cubicBezTo>
                    <a:lnTo>
                      <a:pt x="0" y="41603"/>
                    </a:lnTo>
                    <a:cubicBezTo>
                      <a:pt x="0" y="18626"/>
                      <a:pt x="18626" y="0"/>
                      <a:pt x="41603" y="0"/>
                    </a:cubicBezTo>
                    <a:close/>
                  </a:path>
                </a:pathLst>
              </a:custGeom>
              <a:solidFill>
                <a:srgbClr val="EEF2F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76200"/>
                <a:ext cx="1715408" cy="4134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35"/>
                  </a:lnSpc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1412448" y="233163"/>
              <a:ext cx="4123155" cy="704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500"/>
                </a:lnSpc>
              </a:pPr>
              <a:r>
                <a:rPr lang="en-US" sz="3000" spc="-89">
                  <a:solidFill>
                    <a:srgbClr val="0F148D"/>
                  </a:solidFill>
                  <a:latin typeface="210 밀레니얼"/>
                  <a:ea typeface="210 밀레니얼"/>
                  <a:cs typeface="210 밀레니얼"/>
                  <a:sym typeface="210 밀레니얼"/>
                </a:rPr>
                <a:t>나의 캠퍼스 발자취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412448" y="959996"/>
              <a:ext cx="6824103" cy="475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90"/>
                </a:lnSpc>
              </a:pPr>
              <a:r>
                <a:rPr lang="en-US" sz="2300" spc="-69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사용자가 올린 사진만 숭실대 지도 위에 표시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635229" y="7202936"/>
            <a:ext cx="518749" cy="518749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148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000" spc="-60">
                  <a:solidFill>
                    <a:srgbClr val="FFFFFF"/>
                  </a:solidFill>
                  <a:latin typeface="210 네버랜드 Bold"/>
                  <a:ea typeface="210 네버랜드 Bold"/>
                  <a:cs typeface="210 네버랜드 Bold"/>
                  <a:sym typeface="210 네버랜드 Bold"/>
                </a:rPr>
                <a:t>2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261508" y="8413480"/>
            <a:ext cx="6513188" cy="1551166"/>
            <a:chOff x="0" y="0"/>
            <a:chExt cx="1715408" cy="40853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715408" cy="408538"/>
            </a:xfrm>
            <a:custGeom>
              <a:avLst/>
              <a:gdLst/>
              <a:ahLst/>
              <a:cxnLst/>
              <a:rect l="l" t="t" r="r" b="b"/>
              <a:pathLst>
                <a:path w="1715408" h="408538">
                  <a:moveTo>
                    <a:pt x="41603" y="0"/>
                  </a:moveTo>
                  <a:lnTo>
                    <a:pt x="1673805" y="0"/>
                  </a:lnTo>
                  <a:cubicBezTo>
                    <a:pt x="1684839" y="0"/>
                    <a:pt x="1695421" y="4383"/>
                    <a:pt x="1703223" y="12185"/>
                  </a:cubicBezTo>
                  <a:cubicBezTo>
                    <a:pt x="1711025" y="19987"/>
                    <a:pt x="1715408" y="30569"/>
                    <a:pt x="1715408" y="41603"/>
                  </a:cubicBezTo>
                  <a:lnTo>
                    <a:pt x="1715408" y="366935"/>
                  </a:lnTo>
                  <a:cubicBezTo>
                    <a:pt x="1715408" y="389911"/>
                    <a:pt x="1696782" y="408538"/>
                    <a:pt x="1673805" y="408538"/>
                  </a:cubicBezTo>
                  <a:lnTo>
                    <a:pt x="41603" y="408538"/>
                  </a:lnTo>
                  <a:cubicBezTo>
                    <a:pt x="18626" y="408538"/>
                    <a:pt x="0" y="389911"/>
                    <a:pt x="0" y="366935"/>
                  </a:cubicBezTo>
                  <a:lnTo>
                    <a:pt x="0" y="41603"/>
                  </a:lnTo>
                  <a:cubicBezTo>
                    <a:pt x="0" y="18626"/>
                    <a:pt x="18626" y="0"/>
                    <a:pt x="41603" y="0"/>
                  </a:cubicBezTo>
                  <a:close/>
                </a:path>
              </a:pathLst>
            </a:custGeom>
            <a:solidFill>
              <a:srgbClr val="EEF2F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76200"/>
              <a:ext cx="1715408" cy="484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35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1635229" y="8610973"/>
            <a:ext cx="518749" cy="518749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148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000" spc="-60">
                  <a:solidFill>
                    <a:srgbClr val="FFFFFF"/>
                  </a:solidFill>
                  <a:latin typeface="210 네버랜드 Bold"/>
                  <a:ea typeface="210 네버랜드 Bold"/>
                  <a:cs typeface="210 네버랜드 Bold"/>
                  <a:sym typeface="210 네버랜드 Bold"/>
                </a:rPr>
                <a:t>3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2320845" y="8546497"/>
            <a:ext cx="3092367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3000" spc="-89">
                <a:solidFill>
                  <a:srgbClr val="0F148D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활동 기록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2320845" y="9080891"/>
            <a:ext cx="5118077" cy="73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90"/>
              </a:lnSpc>
            </a:pPr>
            <a:r>
              <a:rPr lang="en-US" sz="2300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날짜별 업로드를 잔디 히트맵으로 표시</a:t>
            </a:r>
          </a:p>
          <a:p>
            <a:pPr algn="just">
              <a:lnSpc>
                <a:spcPts val="2990"/>
              </a:lnSpc>
            </a:pPr>
            <a:r>
              <a:rPr lang="en-US" sz="2300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화면 너비에 맞춰 12~52주 자동 조절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740322"/>
            <a:ext cx="18288000" cy="8546678"/>
            <a:chOff x="0" y="0"/>
            <a:chExt cx="4816593" cy="22509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250977"/>
            </a:xfrm>
            <a:custGeom>
              <a:avLst/>
              <a:gdLst/>
              <a:ahLst/>
              <a:cxnLst/>
              <a:rect l="l" t="t" r="r" b="b"/>
              <a:pathLst>
                <a:path w="4816592" h="2250977">
                  <a:moveTo>
                    <a:pt x="0" y="0"/>
                  </a:moveTo>
                  <a:lnTo>
                    <a:pt x="4816592" y="0"/>
                  </a:lnTo>
                  <a:lnTo>
                    <a:pt x="4816592" y="2250977"/>
                  </a:lnTo>
                  <a:lnTo>
                    <a:pt x="0" y="22509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289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638745" y="2051313"/>
            <a:ext cx="13076055" cy="7876266"/>
            <a:chOff x="0" y="0"/>
            <a:chExt cx="3443899" cy="20744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43899" cy="2074407"/>
            </a:xfrm>
            <a:custGeom>
              <a:avLst/>
              <a:gdLst/>
              <a:ahLst/>
              <a:cxnLst/>
              <a:rect l="l" t="t" r="r" b="b"/>
              <a:pathLst>
                <a:path w="3443899" h="2074407">
                  <a:moveTo>
                    <a:pt x="20722" y="0"/>
                  </a:moveTo>
                  <a:lnTo>
                    <a:pt x="3423177" y="0"/>
                  </a:lnTo>
                  <a:cubicBezTo>
                    <a:pt x="3428673" y="0"/>
                    <a:pt x="3433944" y="2183"/>
                    <a:pt x="3437830" y="6069"/>
                  </a:cubicBezTo>
                  <a:cubicBezTo>
                    <a:pt x="3441716" y="9956"/>
                    <a:pt x="3443899" y="15226"/>
                    <a:pt x="3443899" y="20722"/>
                  </a:cubicBezTo>
                  <a:lnTo>
                    <a:pt x="3443899" y="2053685"/>
                  </a:lnTo>
                  <a:cubicBezTo>
                    <a:pt x="3443899" y="2065130"/>
                    <a:pt x="3434622" y="2074407"/>
                    <a:pt x="3423177" y="2074407"/>
                  </a:cubicBezTo>
                  <a:lnTo>
                    <a:pt x="20722" y="2074407"/>
                  </a:lnTo>
                  <a:cubicBezTo>
                    <a:pt x="15226" y="2074407"/>
                    <a:pt x="9956" y="2072224"/>
                    <a:pt x="6069" y="2068338"/>
                  </a:cubicBezTo>
                  <a:cubicBezTo>
                    <a:pt x="2183" y="2064452"/>
                    <a:pt x="0" y="2059181"/>
                    <a:pt x="0" y="2053685"/>
                  </a:cubicBezTo>
                  <a:lnTo>
                    <a:pt x="0" y="20722"/>
                  </a:lnTo>
                  <a:cubicBezTo>
                    <a:pt x="0" y="9278"/>
                    <a:pt x="9278" y="0"/>
                    <a:pt x="20722" y="0"/>
                  </a:cubicBezTo>
                  <a:close/>
                </a:path>
              </a:pathLst>
            </a:custGeom>
            <a:solidFill>
              <a:srgbClr val="EEF2F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443899" cy="2150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3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7187" y="2647916"/>
            <a:ext cx="2555981" cy="4139520"/>
            <a:chOff x="0" y="0"/>
            <a:chExt cx="3407975" cy="5519361"/>
          </a:xfrm>
        </p:grpSpPr>
        <p:sp>
          <p:nvSpPr>
            <p:cNvPr id="9" name="Freeform 9"/>
            <p:cNvSpPr/>
            <p:nvPr/>
          </p:nvSpPr>
          <p:spPr>
            <a:xfrm>
              <a:off x="25653" y="83026"/>
              <a:ext cx="3356669" cy="5353308"/>
            </a:xfrm>
            <a:custGeom>
              <a:avLst/>
              <a:gdLst/>
              <a:ahLst/>
              <a:cxnLst/>
              <a:rect l="l" t="t" r="r" b="b"/>
              <a:pathLst>
                <a:path w="3356669" h="5353308">
                  <a:moveTo>
                    <a:pt x="0" y="0"/>
                  </a:moveTo>
                  <a:lnTo>
                    <a:pt x="3356669" y="0"/>
                  </a:lnTo>
                  <a:lnTo>
                    <a:pt x="3356669" y="5353308"/>
                  </a:lnTo>
                  <a:lnTo>
                    <a:pt x="0" y="5353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0176" t="-447799" r="-698987" b="-5527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0" y="0"/>
              <a:ext cx="3407975" cy="5519361"/>
              <a:chOff x="0" y="0"/>
              <a:chExt cx="506631" cy="82051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06631" cy="820511"/>
              </a:xfrm>
              <a:custGeom>
                <a:avLst/>
                <a:gdLst/>
                <a:ahLst/>
                <a:cxnLst/>
                <a:rect l="l" t="t" r="r" b="b"/>
                <a:pathLst>
                  <a:path w="506631" h="820511">
                    <a:moveTo>
                      <a:pt x="0" y="0"/>
                    </a:moveTo>
                    <a:lnTo>
                      <a:pt x="506631" y="0"/>
                    </a:lnTo>
                    <a:lnTo>
                      <a:pt x="506631" y="820511"/>
                    </a:lnTo>
                    <a:lnTo>
                      <a:pt x="0" y="820511"/>
                    </a:lnTo>
                    <a:close/>
                  </a:path>
                </a:pathLst>
              </a:custGeom>
              <a:ln w="38100" cap="sq">
                <a:solidFill>
                  <a:srgbClr val="0F148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76200"/>
                <a:ext cx="506631" cy="896711"/>
              </a:xfrm>
              <a:prstGeom prst="rect">
                <a:avLst/>
              </a:prstGeom>
            </p:spPr>
            <p:txBody>
              <a:bodyPr lIns="67500" tIns="67500" rIns="67500" bIns="67500" rtlCol="0" anchor="ctr"/>
              <a:lstStyle/>
              <a:p>
                <a:pPr algn="ctr">
                  <a:lnSpc>
                    <a:spcPts val="3735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9030547" y="6327381"/>
            <a:ext cx="8684253" cy="3529480"/>
          </a:xfrm>
          <a:custGeom>
            <a:avLst/>
            <a:gdLst/>
            <a:ahLst/>
            <a:cxnLst/>
            <a:rect l="l" t="t" r="r" b="b"/>
            <a:pathLst>
              <a:path w="8684253" h="3529480">
                <a:moveTo>
                  <a:pt x="0" y="0"/>
                </a:moveTo>
                <a:lnTo>
                  <a:pt x="8684253" y="0"/>
                </a:lnTo>
                <a:lnTo>
                  <a:pt x="8684253" y="3529480"/>
                </a:lnTo>
                <a:lnTo>
                  <a:pt x="0" y="3529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53" t="-34551" r="-3407" b="-79827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4" name="Group 14"/>
          <p:cNvGrpSpPr/>
          <p:nvPr/>
        </p:nvGrpSpPr>
        <p:grpSpPr>
          <a:xfrm>
            <a:off x="613112" y="2051313"/>
            <a:ext cx="518749" cy="51874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148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000" spc="-60">
                  <a:solidFill>
                    <a:srgbClr val="FFFFFF"/>
                  </a:solidFill>
                  <a:latin typeface="210 네버랜드 Bold"/>
                  <a:ea typeface="210 네버랜드 Bold"/>
                  <a:cs typeface="210 네버랜드 Bold"/>
                  <a:sym typeface="210 네버랜드 Bold"/>
                </a:rPr>
                <a:t>4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3134802" y="2777605"/>
            <a:ext cx="3954456" cy="2983269"/>
          </a:xfrm>
          <a:custGeom>
            <a:avLst/>
            <a:gdLst/>
            <a:ahLst/>
            <a:cxnLst/>
            <a:rect l="l" t="t" r="r" b="b"/>
            <a:pathLst>
              <a:path w="3954456" h="2983269">
                <a:moveTo>
                  <a:pt x="0" y="0"/>
                </a:moveTo>
                <a:lnTo>
                  <a:pt x="3954456" y="0"/>
                </a:lnTo>
                <a:lnTo>
                  <a:pt x="3954456" y="2983269"/>
                </a:lnTo>
                <a:lnTo>
                  <a:pt x="0" y="2983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372" t="-58245" r="-202907" b="-117801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8" name="Group 18"/>
          <p:cNvGrpSpPr/>
          <p:nvPr/>
        </p:nvGrpSpPr>
        <p:grpSpPr>
          <a:xfrm>
            <a:off x="12568943" y="5833123"/>
            <a:ext cx="1607461" cy="524178"/>
            <a:chOff x="0" y="0"/>
            <a:chExt cx="2143281" cy="698904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691665" cy="698904"/>
              <a:chOff x="0" y="0"/>
              <a:chExt cx="812800" cy="82130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2130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21307">
                    <a:moveTo>
                      <a:pt x="406400" y="0"/>
                    </a:moveTo>
                    <a:cubicBezTo>
                      <a:pt x="181951" y="0"/>
                      <a:pt x="0" y="183856"/>
                      <a:pt x="0" y="410653"/>
                    </a:cubicBezTo>
                    <a:cubicBezTo>
                      <a:pt x="0" y="637451"/>
                      <a:pt x="181951" y="821307"/>
                      <a:pt x="406400" y="821307"/>
                    </a:cubicBezTo>
                    <a:cubicBezTo>
                      <a:pt x="630849" y="821307"/>
                      <a:pt x="812800" y="637451"/>
                      <a:pt x="812800" y="410653"/>
                    </a:cubicBezTo>
                    <a:cubicBezTo>
                      <a:pt x="812800" y="183856"/>
                      <a:pt x="630849" y="0"/>
                      <a:pt x="406400" y="0"/>
                    </a:cubicBezTo>
                    <a:close/>
                  </a:path>
                </a:pathLst>
              </a:custGeom>
              <a:ln w="28575" cap="sq">
                <a:solidFill>
                  <a:srgbClr val="0F148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10322"/>
                <a:ext cx="660400" cy="733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50"/>
                  </a:lnSpc>
                </a:pPr>
                <a:r>
                  <a:rPr lang="en-US" sz="1700" spc="-51">
                    <a:solidFill>
                      <a:srgbClr val="000000"/>
                    </a:solidFill>
                    <a:latin typeface="210 네버랜드 Bold"/>
                    <a:ea typeface="210 네버랜드 Bold"/>
                    <a:cs typeface="210 네버랜드 Bold"/>
                    <a:sym typeface="210 네버랜드 Bold"/>
                  </a:rPr>
                  <a:t>4</a:t>
                </a: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845027" y="55447"/>
              <a:ext cx="1298254" cy="5213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449"/>
                </a:lnSpc>
              </a:pPr>
              <a:r>
                <a:rPr lang="en-US" sz="2299" b="1" spc="-68">
                  <a:solidFill>
                    <a:srgbClr val="0F148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내 통계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057024" y="2234377"/>
            <a:ext cx="2402176" cy="524178"/>
            <a:chOff x="0" y="0"/>
            <a:chExt cx="3202901" cy="698904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691665" cy="698904"/>
              <a:chOff x="0" y="0"/>
              <a:chExt cx="812800" cy="82130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2130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21307">
                    <a:moveTo>
                      <a:pt x="406400" y="0"/>
                    </a:moveTo>
                    <a:cubicBezTo>
                      <a:pt x="181951" y="0"/>
                      <a:pt x="0" y="183856"/>
                      <a:pt x="0" y="410653"/>
                    </a:cubicBezTo>
                    <a:cubicBezTo>
                      <a:pt x="0" y="637451"/>
                      <a:pt x="181951" y="821307"/>
                      <a:pt x="406400" y="821307"/>
                    </a:cubicBezTo>
                    <a:cubicBezTo>
                      <a:pt x="630849" y="821307"/>
                      <a:pt x="812800" y="637451"/>
                      <a:pt x="812800" y="410653"/>
                    </a:cubicBezTo>
                    <a:cubicBezTo>
                      <a:pt x="812800" y="183856"/>
                      <a:pt x="630849" y="0"/>
                      <a:pt x="406400" y="0"/>
                    </a:cubicBezTo>
                    <a:close/>
                  </a:path>
                </a:pathLst>
              </a:custGeom>
              <a:ln w="28575" cap="sq">
                <a:solidFill>
                  <a:srgbClr val="0F148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10322"/>
                <a:ext cx="660400" cy="733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50"/>
                  </a:lnSpc>
                </a:pPr>
                <a:r>
                  <a:rPr lang="en-US" sz="1700" spc="-51">
                    <a:solidFill>
                      <a:srgbClr val="000000"/>
                    </a:solidFill>
                    <a:latin typeface="210 네버랜드 Bold"/>
                    <a:ea typeface="210 네버랜드 Bold"/>
                    <a:cs typeface="210 네버랜드 Bold"/>
                    <a:sym typeface="210 네버랜드 Bold"/>
                  </a:rPr>
                  <a:t>2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844065" y="55445"/>
              <a:ext cx="2358836" cy="5342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449"/>
                </a:lnSpc>
              </a:pPr>
              <a:r>
                <a:rPr lang="en-US" sz="2299" b="1" spc="-68" dirty="0">
                  <a:solidFill>
                    <a:srgbClr val="0F148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내 </a:t>
              </a:r>
              <a:r>
                <a:rPr lang="en-US" sz="2299" b="1" spc="-68" dirty="0" err="1">
                  <a:solidFill>
                    <a:srgbClr val="0F148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사진</a:t>
              </a:r>
              <a:r>
                <a:rPr lang="en-US" sz="2299" b="1" spc="-68" dirty="0">
                  <a:solidFill>
                    <a:srgbClr val="0F148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  <a:r>
                <a:rPr lang="en-US" sz="2299" b="1" spc="-68" dirty="0" err="1">
                  <a:solidFill>
                    <a:srgbClr val="0F148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관리</a:t>
              </a:r>
              <a:endParaRPr lang="en-US" sz="2299" b="1" spc="-68" dirty="0">
                <a:solidFill>
                  <a:srgbClr val="0F148D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28" name="Freeform 28"/>
          <p:cNvSpPr/>
          <p:nvPr/>
        </p:nvSpPr>
        <p:spPr>
          <a:xfrm>
            <a:off x="4964495" y="6357301"/>
            <a:ext cx="3748073" cy="3041463"/>
          </a:xfrm>
          <a:custGeom>
            <a:avLst/>
            <a:gdLst/>
            <a:ahLst/>
            <a:cxnLst/>
            <a:rect l="l" t="t" r="r" b="b"/>
            <a:pathLst>
              <a:path w="3748073" h="3041463">
                <a:moveTo>
                  <a:pt x="0" y="0"/>
                </a:moveTo>
                <a:lnTo>
                  <a:pt x="3748072" y="0"/>
                </a:lnTo>
                <a:lnTo>
                  <a:pt x="3748072" y="3041463"/>
                </a:lnTo>
                <a:lnTo>
                  <a:pt x="0" y="30414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771" t="-50997" r="-203681" b="-105778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Group 29"/>
          <p:cNvGrpSpPr/>
          <p:nvPr/>
        </p:nvGrpSpPr>
        <p:grpSpPr>
          <a:xfrm>
            <a:off x="5705680" y="5833123"/>
            <a:ext cx="2756994" cy="524178"/>
            <a:chOff x="0" y="0"/>
            <a:chExt cx="3675992" cy="698904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691665" cy="698904"/>
              <a:chOff x="0" y="0"/>
              <a:chExt cx="812800" cy="82130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2130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21307">
                    <a:moveTo>
                      <a:pt x="406400" y="0"/>
                    </a:moveTo>
                    <a:cubicBezTo>
                      <a:pt x="181951" y="0"/>
                      <a:pt x="0" y="183856"/>
                      <a:pt x="0" y="410653"/>
                    </a:cubicBezTo>
                    <a:cubicBezTo>
                      <a:pt x="0" y="637451"/>
                      <a:pt x="181951" y="821307"/>
                      <a:pt x="406400" y="821307"/>
                    </a:cubicBezTo>
                    <a:cubicBezTo>
                      <a:pt x="630849" y="821307"/>
                      <a:pt x="812800" y="637451"/>
                      <a:pt x="812800" y="410653"/>
                    </a:cubicBezTo>
                    <a:cubicBezTo>
                      <a:pt x="812800" y="183856"/>
                      <a:pt x="630849" y="0"/>
                      <a:pt x="406400" y="0"/>
                    </a:cubicBezTo>
                    <a:close/>
                  </a:path>
                </a:pathLst>
              </a:custGeom>
              <a:ln w="28575" cap="sq">
                <a:solidFill>
                  <a:srgbClr val="0F148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6200" y="10322"/>
                <a:ext cx="660400" cy="733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50"/>
                  </a:lnSpc>
                </a:pPr>
                <a:r>
                  <a:rPr lang="en-US" sz="1700" spc="-51">
                    <a:solidFill>
                      <a:srgbClr val="000000"/>
                    </a:solidFill>
                    <a:latin typeface="210 네버랜드 Bold"/>
                    <a:ea typeface="210 네버랜드 Bold"/>
                    <a:cs typeface="210 네버랜드 Bold"/>
                    <a:sym typeface="210 네버랜드 Bold"/>
                  </a:rPr>
                  <a:t>3</a:t>
                </a:r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827976" y="55445"/>
              <a:ext cx="2848016" cy="5468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449"/>
                </a:lnSpc>
              </a:pPr>
              <a:r>
                <a:rPr lang="en-US" sz="2299" b="1" spc="-68" dirty="0" err="1">
                  <a:solidFill>
                    <a:srgbClr val="0F148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좋아요한</a:t>
              </a:r>
              <a:r>
                <a:rPr lang="en-US" sz="2299" b="1" spc="-68" dirty="0">
                  <a:solidFill>
                    <a:srgbClr val="0F148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  <a:r>
                <a:rPr lang="en-US" sz="2299" b="1" spc="-68" dirty="0" err="1">
                  <a:solidFill>
                    <a:srgbClr val="0F148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사진</a:t>
              </a:r>
              <a:endParaRPr lang="en-US" sz="2299" b="1" spc="-68" dirty="0">
                <a:solidFill>
                  <a:srgbClr val="0F148D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289871" y="2379327"/>
            <a:ext cx="7736667" cy="3381547"/>
            <a:chOff x="0" y="0"/>
            <a:chExt cx="10315556" cy="4508729"/>
          </a:xfrm>
        </p:grpSpPr>
        <p:sp>
          <p:nvSpPr>
            <p:cNvPr id="35" name="Freeform 35"/>
            <p:cNvSpPr/>
            <p:nvPr/>
          </p:nvSpPr>
          <p:spPr>
            <a:xfrm>
              <a:off x="2326246" y="0"/>
              <a:ext cx="7989310" cy="4393719"/>
            </a:xfrm>
            <a:custGeom>
              <a:avLst/>
              <a:gdLst/>
              <a:ahLst/>
              <a:cxnLst/>
              <a:rect l="l" t="t" r="r" b="b"/>
              <a:pathLst>
                <a:path w="7989310" h="4393719">
                  <a:moveTo>
                    <a:pt x="0" y="0"/>
                  </a:moveTo>
                  <a:lnTo>
                    <a:pt x="7989310" y="0"/>
                  </a:lnTo>
                  <a:lnTo>
                    <a:pt x="7989310" y="4393719"/>
                  </a:lnTo>
                  <a:lnTo>
                    <a:pt x="0" y="4393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2215" t="-47924" r="-42472" b="-7602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2589693" y="83506"/>
              <a:ext cx="1611530" cy="610191"/>
            </a:xfrm>
            <a:custGeom>
              <a:avLst/>
              <a:gdLst/>
              <a:ahLst/>
              <a:cxnLst/>
              <a:rect l="l" t="t" r="r" b="b"/>
              <a:pathLst>
                <a:path w="1611530" h="610191">
                  <a:moveTo>
                    <a:pt x="0" y="0"/>
                  </a:moveTo>
                  <a:lnTo>
                    <a:pt x="1611530" y="0"/>
                  </a:lnTo>
                  <a:lnTo>
                    <a:pt x="1611530" y="610191"/>
                  </a:lnTo>
                  <a:lnTo>
                    <a:pt x="0" y="610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5188" t="-394648" r="-410419" b="-111795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1351972"/>
              <a:ext cx="3694354" cy="3156454"/>
            </a:xfrm>
            <a:custGeom>
              <a:avLst/>
              <a:gdLst/>
              <a:ahLst/>
              <a:cxnLst/>
              <a:rect l="l" t="t" r="r" b="b"/>
              <a:pathLst>
                <a:path w="3694354" h="3156454">
                  <a:moveTo>
                    <a:pt x="0" y="0"/>
                  </a:moveTo>
                  <a:lnTo>
                    <a:pt x="3694354" y="0"/>
                  </a:lnTo>
                  <a:lnTo>
                    <a:pt x="3694354" y="3156454"/>
                  </a:lnTo>
                  <a:lnTo>
                    <a:pt x="0" y="3156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92954" t="-2329" r="-960" b="-1342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142028" y="1937794"/>
              <a:ext cx="3445766" cy="2570935"/>
            </a:xfrm>
            <a:custGeom>
              <a:avLst/>
              <a:gdLst/>
              <a:ahLst/>
              <a:cxnLst/>
              <a:rect l="l" t="t" r="r" b="b"/>
              <a:pathLst>
                <a:path w="3445766" h="2570935">
                  <a:moveTo>
                    <a:pt x="0" y="0"/>
                  </a:moveTo>
                  <a:lnTo>
                    <a:pt x="3445767" y="0"/>
                  </a:lnTo>
                  <a:lnTo>
                    <a:pt x="3445767" y="2570935"/>
                  </a:lnTo>
                  <a:lnTo>
                    <a:pt x="0" y="2570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33771" t="-74392" r="-135504" b="-15566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Freeform 39"/>
            <p:cNvSpPr/>
            <p:nvPr/>
          </p:nvSpPr>
          <p:spPr>
            <a:xfrm flipH="1">
              <a:off x="2064469" y="867084"/>
              <a:ext cx="562272" cy="553838"/>
            </a:xfrm>
            <a:custGeom>
              <a:avLst/>
              <a:gdLst/>
              <a:ahLst/>
              <a:cxnLst/>
              <a:rect l="l" t="t" r="r" b="b"/>
              <a:pathLst>
                <a:path w="562272" h="553838">
                  <a:moveTo>
                    <a:pt x="562272" y="0"/>
                  </a:moveTo>
                  <a:lnTo>
                    <a:pt x="0" y="0"/>
                  </a:lnTo>
                  <a:lnTo>
                    <a:pt x="0" y="553838"/>
                  </a:lnTo>
                  <a:lnTo>
                    <a:pt x="562272" y="553838"/>
                  </a:lnTo>
                  <a:lnTo>
                    <a:pt x="562272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835882" y="2234377"/>
            <a:ext cx="2303803" cy="524178"/>
            <a:chOff x="0" y="0"/>
            <a:chExt cx="3071737" cy="698904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691665" cy="698904"/>
              <a:chOff x="0" y="0"/>
              <a:chExt cx="812800" cy="821307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82130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21307">
                    <a:moveTo>
                      <a:pt x="406400" y="0"/>
                    </a:moveTo>
                    <a:cubicBezTo>
                      <a:pt x="181951" y="0"/>
                      <a:pt x="0" y="183856"/>
                      <a:pt x="0" y="410653"/>
                    </a:cubicBezTo>
                    <a:cubicBezTo>
                      <a:pt x="0" y="637451"/>
                      <a:pt x="181951" y="821307"/>
                      <a:pt x="406400" y="821307"/>
                    </a:cubicBezTo>
                    <a:cubicBezTo>
                      <a:pt x="630849" y="821307"/>
                      <a:pt x="812800" y="637451"/>
                      <a:pt x="812800" y="410653"/>
                    </a:cubicBezTo>
                    <a:cubicBezTo>
                      <a:pt x="812800" y="183856"/>
                      <a:pt x="630849" y="0"/>
                      <a:pt x="406400" y="0"/>
                    </a:cubicBezTo>
                    <a:close/>
                  </a:path>
                </a:pathLst>
              </a:custGeom>
              <a:ln w="28575" cap="sq">
                <a:solidFill>
                  <a:srgbClr val="0F148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6200" y="10322"/>
                <a:ext cx="660400" cy="733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50"/>
                  </a:lnSpc>
                </a:pPr>
                <a:r>
                  <a:rPr lang="en-US" sz="1700" spc="-51">
                    <a:solidFill>
                      <a:srgbClr val="000000"/>
                    </a:solidFill>
                    <a:latin typeface="210 네버랜드 Bold"/>
                    <a:ea typeface="210 네버랜드 Bold"/>
                    <a:cs typeface="210 네버랜드 Bold"/>
                    <a:sym typeface="210 네버랜드 Bold"/>
                  </a:rPr>
                  <a:t>1</a:t>
                </a: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878776" y="55447"/>
              <a:ext cx="2192961" cy="5213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449"/>
                </a:lnSpc>
              </a:pPr>
              <a:r>
                <a:rPr lang="en-US" sz="2299" b="1" spc="-68">
                  <a:solidFill>
                    <a:srgbClr val="0F148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내 정보 확인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523092" y="612775"/>
            <a:ext cx="12056639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algn="l">
              <a:lnSpc>
                <a:spcPts val="6350"/>
              </a:lnSpc>
            </a:pP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3.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시스템</a:t>
            </a: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설계</a:t>
            </a: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-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마이페이지</a:t>
            </a:r>
            <a:endParaRPr lang="en-US" sz="5000" dirty="0">
              <a:solidFill>
                <a:srgbClr val="0F148D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298728" y="1986837"/>
            <a:ext cx="3092367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3000" spc="-89">
                <a:solidFill>
                  <a:srgbClr val="0F148D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마이페이지 메뉴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740322"/>
            <a:ext cx="18288000" cy="8546678"/>
            <a:chOff x="0" y="0"/>
            <a:chExt cx="4816593" cy="22509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250977"/>
            </a:xfrm>
            <a:custGeom>
              <a:avLst/>
              <a:gdLst/>
              <a:ahLst/>
              <a:cxnLst/>
              <a:rect l="l" t="t" r="r" b="b"/>
              <a:pathLst>
                <a:path w="4816592" h="2250977">
                  <a:moveTo>
                    <a:pt x="0" y="0"/>
                  </a:moveTo>
                  <a:lnTo>
                    <a:pt x="4816592" y="0"/>
                  </a:lnTo>
                  <a:lnTo>
                    <a:pt x="4816592" y="2250977"/>
                  </a:lnTo>
                  <a:lnTo>
                    <a:pt x="0" y="22509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289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4590" y="2331782"/>
            <a:ext cx="15838820" cy="7337936"/>
            <a:chOff x="0" y="0"/>
            <a:chExt cx="21118427" cy="9783915"/>
          </a:xfrm>
        </p:grpSpPr>
        <p:grpSp>
          <p:nvGrpSpPr>
            <p:cNvPr id="6" name="Group 6"/>
            <p:cNvGrpSpPr/>
            <p:nvPr/>
          </p:nvGrpSpPr>
          <p:grpSpPr>
            <a:xfrm>
              <a:off x="11970" y="0"/>
              <a:ext cx="21106457" cy="6505326"/>
              <a:chOff x="0" y="0"/>
              <a:chExt cx="4169177" cy="128500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169177" cy="1285003"/>
              </a:xfrm>
              <a:custGeom>
                <a:avLst/>
                <a:gdLst/>
                <a:ahLst/>
                <a:cxnLst/>
                <a:rect l="l" t="t" r="r" b="b"/>
                <a:pathLst>
                  <a:path w="4169177" h="1285003">
                    <a:moveTo>
                      <a:pt x="17117" y="0"/>
                    </a:moveTo>
                    <a:lnTo>
                      <a:pt x="4152059" y="0"/>
                    </a:lnTo>
                    <a:cubicBezTo>
                      <a:pt x="4161513" y="0"/>
                      <a:pt x="4169177" y="7664"/>
                      <a:pt x="4169177" y="17117"/>
                    </a:cubicBezTo>
                    <a:lnTo>
                      <a:pt x="4169177" y="1267885"/>
                    </a:lnTo>
                    <a:cubicBezTo>
                      <a:pt x="4169177" y="1277339"/>
                      <a:pt x="4161513" y="1285003"/>
                      <a:pt x="4152059" y="1285003"/>
                    </a:cubicBezTo>
                    <a:lnTo>
                      <a:pt x="17117" y="1285003"/>
                    </a:lnTo>
                    <a:cubicBezTo>
                      <a:pt x="12578" y="1285003"/>
                      <a:pt x="8224" y="1283199"/>
                      <a:pt x="5014" y="1279989"/>
                    </a:cubicBezTo>
                    <a:cubicBezTo>
                      <a:pt x="1803" y="1276779"/>
                      <a:pt x="0" y="1272425"/>
                      <a:pt x="0" y="1267885"/>
                    </a:cubicBezTo>
                    <a:lnTo>
                      <a:pt x="0" y="17117"/>
                    </a:lnTo>
                    <a:cubicBezTo>
                      <a:pt x="0" y="7664"/>
                      <a:pt x="7664" y="0"/>
                      <a:pt x="17117" y="0"/>
                    </a:cubicBezTo>
                    <a:close/>
                  </a:path>
                </a:pathLst>
              </a:custGeom>
              <a:solidFill>
                <a:srgbClr val="EEF2F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169177" cy="13612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35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6835526"/>
              <a:ext cx="21106457" cy="2948389"/>
              <a:chOff x="0" y="0"/>
              <a:chExt cx="4169177" cy="58239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169177" cy="582398"/>
              </a:xfrm>
              <a:custGeom>
                <a:avLst/>
                <a:gdLst/>
                <a:ahLst/>
                <a:cxnLst/>
                <a:rect l="l" t="t" r="r" b="b"/>
                <a:pathLst>
                  <a:path w="4169177" h="582398">
                    <a:moveTo>
                      <a:pt x="17117" y="0"/>
                    </a:moveTo>
                    <a:lnTo>
                      <a:pt x="4152059" y="0"/>
                    </a:lnTo>
                    <a:cubicBezTo>
                      <a:pt x="4161513" y="0"/>
                      <a:pt x="4169177" y="7664"/>
                      <a:pt x="4169177" y="17117"/>
                    </a:cubicBezTo>
                    <a:lnTo>
                      <a:pt x="4169177" y="565280"/>
                    </a:lnTo>
                    <a:cubicBezTo>
                      <a:pt x="4169177" y="574734"/>
                      <a:pt x="4161513" y="582398"/>
                      <a:pt x="4152059" y="582398"/>
                    </a:cubicBezTo>
                    <a:lnTo>
                      <a:pt x="17117" y="582398"/>
                    </a:lnTo>
                    <a:cubicBezTo>
                      <a:pt x="12578" y="582398"/>
                      <a:pt x="8224" y="580594"/>
                      <a:pt x="5014" y="577384"/>
                    </a:cubicBezTo>
                    <a:cubicBezTo>
                      <a:pt x="1803" y="574174"/>
                      <a:pt x="0" y="569820"/>
                      <a:pt x="0" y="565280"/>
                    </a:cubicBezTo>
                    <a:lnTo>
                      <a:pt x="0" y="17117"/>
                    </a:lnTo>
                    <a:cubicBezTo>
                      <a:pt x="0" y="7664"/>
                      <a:pt x="7664" y="0"/>
                      <a:pt x="17117" y="0"/>
                    </a:cubicBezTo>
                    <a:close/>
                  </a:path>
                </a:pathLst>
              </a:custGeom>
              <a:solidFill>
                <a:srgbClr val="EEF2F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76200"/>
                <a:ext cx="4169177" cy="6585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35"/>
                  </a:lnSpc>
                </a:pPr>
                <a:endParaRPr/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1432449" y="3576982"/>
            <a:ext cx="15423102" cy="3313236"/>
          </a:xfrm>
          <a:custGeom>
            <a:avLst/>
            <a:gdLst/>
            <a:ahLst/>
            <a:cxnLst/>
            <a:rect l="l" t="t" r="r" b="b"/>
            <a:pathLst>
              <a:path w="15423102" h="3313236">
                <a:moveTo>
                  <a:pt x="0" y="0"/>
                </a:moveTo>
                <a:lnTo>
                  <a:pt x="15423102" y="0"/>
                </a:lnTo>
                <a:lnTo>
                  <a:pt x="15423102" y="3313236"/>
                </a:lnTo>
                <a:lnTo>
                  <a:pt x="0" y="3313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1" t="-26914" r="-2322" b="-2403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7828311" y="2739742"/>
            <a:ext cx="2631379" cy="71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99"/>
              </a:lnSpc>
            </a:pPr>
            <a:r>
              <a:rPr lang="en-US" sz="3999" spc="-119">
                <a:solidFill>
                  <a:srgbClr val="0F148D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데이터 흐름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85583" y="7710625"/>
            <a:ext cx="2516834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99"/>
              </a:lnSpc>
            </a:pPr>
            <a:r>
              <a:rPr lang="en-US" sz="3999" spc="-119">
                <a:solidFill>
                  <a:srgbClr val="0F148D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설계 포인트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3092" y="612775"/>
            <a:ext cx="12056639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algn="l">
              <a:lnSpc>
                <a:spcPts val="6350"/>
              </a:lnSpc>
            </a:pP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3.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시스템</a:t>
            </a: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설계</a:t>
            </a: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-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마이페이지</a:t>
            </a:r>
            <a:endParaRPr lang="en-US" sz="5000" dirty="0">
              <a:solidFill>
                <a:srgbClr val="0F148D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2760242" y="8674928"/>
            <a:ext cx="12767515" cy="350520"/>
            <a:chOff x="0" y="0"/>
            <a:chExt cx="17023353" cy="46736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66675"/>
              <a:ext cx="4463817" cy="534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300" spc="-69">
                  <a:solidFill>
                    <a:srgbClr val="0F148D"/>
                  </a:solidFill>
                  <a:latin typeface="210 밀레니얼"/>
                  <a:ea typeface="210 밀레니얼"/>
                  <a:cs typeface="210 밀레니얼"/>
                  <a:sym typeface="210 밀레니얼"/>
                </a:rPr>
                <a:t>메인 지도 컴포넌트 재사용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359974" y="-66675"/>
              <a:ext cx="3663379" cy="534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300" spc="-69">
                  <a:solidFill>
                    <a:srgbClr val="0F148D"/>
                  </a:solidFill>
                  <a:latin typeface="210 밀레니얼"/>
                  <a:ea typeface="210 밀레니얼"/>
                  <a:cs typeface="210 밀레니얼"/>
                  <a:sym typeface="210 밀레니얼"/>
                </a:rPr>
                <a:t>등급은 저장 없이 계산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93704" y="-66675"/>
              <a:ext cx="6437335" cy="534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300" spc="-69">
                  <a:solidFill>
                    <a:srgbClr val="0F148D"/>
                  </a:solidFill>
                  <a:latin typeface="210 밀레니얼"/>
                  <a:ea typeface="210 밀레니얼"/>
                  <a:cs typeface="210 밀레니얼"/>
                  <a:sym typeface="210 밀레니얼"/>
                </a:rPr>
                <a:t>익명 공개, 사용자 정보는 사용자만 접근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740322"/>
            <a:ext cx="18288000" cy="8546678"/>
            <a:chOff x="0" y="0"/>
            <a:chExt cx="4816593" cy="22509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250977"/>
            </a:xfrm>
            <a:custGeom>
              <a:avLst/>
              <a:gdLst/>
              <a:ahLst/>
              <a:cxnLst/>
              <a:rect l="l" t="t" r="r" b="b"/>
              <a:pathLst>
                <a:path w="4816592" h="2250977">
                  <a:moveTo>
                    <a:pt x="0" y="0"/>
                  </a:moveTo>
                  <a:lnTo>
                    <a:pt x="4816592" y="0"/>
                  </a:lnTo>
                  <a:lnTo>
                    <a:pt x="4816592" y="2250977"/>
                  </a:lnTo>
                  <a:lnTo>
                    <a:pt x="0" y="22509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289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88498" y="2450052"/>
            <a:ext cx="9837019" cy="5643990"/>
          </a:xfrm>
          <a:custGeom>
            <a:avLst/>
            <a:gdLst/>
            <a:ahLst/>
            <a:cxnLst/>
            <a:rect l="l" t="t" r="r" b="b"/>
            <a:pathLst>
              <a:path w="9837019" h="5643990">
                <a:moveTo>
                  <a:pt x="0" y="0"/>
                </a:moveTo>
                <a:lnTo>
                  <a:pt x="9837019" y="0"/>
                </a:lnTo>
                <a:lnTo>
                  <a:pt x="9837019" y="5643990"/>
                </a:lnTo>
                <a:lnTo>
                  <a:pt x="0" y="5643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11117835" y="3182211"/>
            <a:ext cx="6221127" cy="6341290"/>
          </a:xfrm>
          <a:custGeom>
            <a:avLst/>
            <a:gdLst/>
            <a:ahLst/>
            <a:cxnLst/>
            <a:rect l="l" t="t" r="r" b="b"/>
            <a:pathLst>
              <a:path w="6221127" h="6341290">
                <a:moveTo>
                  <a:pt x="0" y="0"/>
                </a:moveTo>
                <a:lnTo>
                  <a:pt x="6221128" y="0"/>
                </a:lnTo>
                <a:lnTo>
                  <a:pt x="6221128" y="6341289"/>
                </a:lnTo>
                <a:lnTo>
                  <a:pt x="0" y="6341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523092" y="622300"/>
            <a:ext cx="14474207" cy="820738"/>
            <a:chOff x="0" y="-38100"/>
            <a:chExt cx="19298943" cy="1094317"/>
          </a:xfrm>
        </p:grpSpPr>
        <p:sp>
          <p:nvSpPr>
            <p:cNvPr id="8" name="TextBox 8"/>
            <p:cNvSpPr txBox="1"/>
            <p:nvPr/>
          </p:nvSpPr>
          <p:spPr>
            <a:xfrm>
              <a:off x="0" y="-38100"/>
              <a:ext cx="19298943" cy="1094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1" lvl="1" algn="l">
                <a:lnSpc>
                  <a:spcPts val="6350"/>
                </a:lnSpc>
              </a:pP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3. </a:t>
              </a: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시스템</a:t>
              </a: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 </a:t>
              </a: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설계</a:t>
              </a: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 - </a:t>
              </a: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전체</a:t>
              </a: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 </a:t>
              </a: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사진</a:t>
              </a: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 </a:t>
              </a: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페이지</a:t>
              </a: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(</a:t>
              </a: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최신</a:t>
              </a: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/</a:t>
              </a:r>
              <a:r>
                <a:rPr lang="en-US" sz="5000" dirty="0" err="1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인기</a:t>
              </a:r>
              <a:r>
                <a:rPr lang="en-US" sz="5000" dirty="0">
                  <a:solidFill>
                    <a:srgbClr val="0F148D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) 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67809" y="486198"/>
              <a:ext cx="11724888" cy="52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4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76137" y="8295533"/>
            <a:ext cx="9449380" cy="138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490" spc="-7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▲ 서버에서 사진·좋아요 정보를 조회하여 최신순 또는 인기순으로 정렬.</a:t>
            </a:r>
          </a:p>
          <a:p>
            <a:pPr algn="l">
              <a:lnSpc>
                <a:spcPts val="3735"/>
              </a:lnSpc>
            </a:pPr>
            <a:r>
              <a:rPr lang="en-US" sz="2490" spc="-7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   로그인한 사용자의 좋아요 등록·취소를 서버에 저장.</a:t>
            </a:r>
          </a:p>
          <a:p>
            <a:pPr algn="l">
              <a:lnSpc>
                <a:spcPts val="3735"/>
              </a:lnSpc>
            </a:pPr>
            <a:endParaRPr lang="en-US" sz="2490" spc="-74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456406" y="2373852"/>
            <a:ext cx="7831594" cy="448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490" spc="-7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▼ 사진 선택 시 상세 창에서 촬영 시각, 장소, 좌표 확인 가능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740322"/>
            <a:ext cx="18288000" cy="8546678"/>
            <a:chOff x="0" y="0"/>
            <a:chExt cx="4816593" cy="22509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250977"/>
            </a:xfrm>
            <a:custGeom>
              <a:avLst/>
              <a:gdLst/>
              <a:ahLst/>
              <a:cxnLst/>
              <a:rect l="l" t="t" r="r" b="b"/>
              <a:pathLst>
                <a:path w="4816592" h="2250977">
                  <a:moveTo>
                    <a:pt x="0" y="0"/>
                  </a:moveTo>
                  <a:lnTo>
                    <a:pt x="4816592" y="0"/>
                  </a:lnTo>
                  <a:lnTo>
                    <a:pt x="4816592" y="2250977"/>
                  </a:lnTo>
                  <a:lnTo>
                    <a:pt x="0" y="22509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289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2955925"/>
            <a:ext cx="2144248" cy="2144248"/>
          </a:xfrm>
          <a:custGeom>
            <a:avLst/>
            <a:gdLst/>
            <a:ahLst/>
            <a:cxnLst/>
            <a:rect l="l" t="t" r="r" b="b"/>
            <a:pathLst>
              <a:path w="2144248" h="2144248">
                <a:moveTo>
                  <a:pt x="0" y="0"/>
                </a:moveTo>
                <a:lnTo>
                  <a:pt x="2144248" y="0"/>
                </a:lnTo>
                <a:lnTo>
                  <a:pt x="2144248" y="2144248"/>
                </a:lnTo>
                <a:lnTo>
                  <a:pt x="0" y="2144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1028700" y="6557498"/>
            <a:ext cx="2146229" cy="2117943"/>
          </a:xfrm>
          <a:custGeom>
            <a:avLst/>
            <a:gdLst/>
            <a:ahLst/>
            <a:cxnLst/>
            <a:rect l="l" t="t" r="r" b="b"/>
            <a:pathLst>
              <a:path w="2146229" h="2117943">
                <a:moveTo>
                  <a:pt x="0" y="0"/>
                </a:moveTo>
                <a:lnTo>
                  <a:pt x="2146229" y="0"/>
                </a:lnTo>
                <a:lnTo>
                  <a:pt x="2146229" y="2117943"/>
                </a:lnTo>
                <a:lnTo>
                  <a:pt x="0" y="21179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3456138" y="3828024"/>
            <a:ext cx="13822097" cy="184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591" lvl="1" indent="-268796" algn="l">
              <a:lnSpc>
                <a:spcPts val="3735"/>
              </a:lnSpc>
              <a:buFont typeface="Arial"/>
              <a:buChar char="•"/>
            </a:pPr>
            <a:r>
              <a:rPr lang="en-US" sz="2490" spc="-74">
                <a:solidFill>
                  <a:srgbClr val="0F148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웹페이지에 지도를 넣을 수 있게 해 주는 오픈소스 JavaScript 라이브러리</a:t>
            </a:r>
          </a:p>
          <a:p>
            <a:pPr marL="537591" lvl="1" indent="-268796" algn="l">
              <a:lnSpc>
                <a:spcPts val="3735"/>
              </a:lnSpc>
              <a:buFont typeface="Arial"/>
              <a:buChar char="•"/>
            </a:pPr>
            <a:r>
              <a:rPr lang="en-US" sz="2490" spc="-74">
                <a:solidFill>
                  <a:srgbClr val="0F148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용량이 작고(약 41KB) 확대·이동·마커 같은 기능을 쉽게 사용 가능.</a:t>
            </a:r>
          </a:p>
          <a:p>
            <a:pPr marL="537591" lvl="1" indent="-268796" algn="l">
              <a:lnSpc>
                <a:spcPts val="3735"/>
              </a:lnSpc>
              <a:buFont typeface="Arial"/>
              <a:buChar char="•"/>
            </a:pPr>
            <a:r>
              <a:rPr lang="en-US" sz="2490" spc="-74">
                <a:solidFill>
                  <a:srgbClr val="0F148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사진이 찍힌 위치를 지도 위에 핀(마커)으로 표시하고, 핀을 누르면 사진 상세가 열리도록 구현.</a:t>
            </a:r>
          </a:p>
          <a:p>
            <a:pPr algn="l">
              <a:lnSpc>
                <a:spcPts val="3735"/>
              </a:lnSpc>
            </a:pPr>
            <a:endParaRPr lang="en-US" sz="2490" spc="-74">
              <a:solidFill>
                <a:srgbClr val="0F148D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456138" y="2860675"/>
            <a:ext cx="3149182" cy="902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62"/>
              </a:lnSpc>
              <a:spcBef>
                <a:spcPct val="0"/>
              </a:spcBef>
            </a:pPr>
            <a:r>
              <a:rPr lang="en-US" sz="5330" b="1">
                <a:solidFill>
                  <a:srgbClr val="0F148D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Leaflet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56138" y="7713035"/>
            <a:ext cx="13822097" cy="914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591" lvl="1" indent="-268796" algn="l">
              <a:lnSpc>
                <a:spcPts val="3735"/>
              </a:lnSpc>
              <a:buFont typeface="Arial"/>
              <a:buChar char="•"/>
            </a:pPr>
            <a:r>
              <a:rPr lang="en-US" sz="2490" spc="-74">
                <a:solidFill>
                  <a:srgbClr val="0F148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전 세계 사용자가 함께 만들고, 가입이나 API 키 없이 누구나 쓸 수 있는 오픈 지도 데이터</a:t>
            </a:r>
          </a:p>
          <a:p>
            <a:pPr marL="537591" lvl="1" indent="-268796" algn="l">
              <a:lnSpc>
                <a:spcPts val="3735"/>
              </a:lnSpc>
              <a:buFont typeface="Arial"/>
              <a:buChar char="•"/>
            </a:pPr>
            <a:r>
              <a:rPr lang="en-US" sz="2490" spc="-74">
                <a:solidFill>
                  <a:srgbClr val="0F148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지도를 작은 이미지 조각(타일)으로 제공하고, Leaflet이 이 타일을 이어 붙여 숭실대 배경 지도로 사용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56138" y="6669486"/>
            <a:ext cx="6390309" cy="902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62"/>
              </a:lnSpc>
              <a:spcBef>
                <a:spcPct val="0"/>
              </a:spcBef>
            </a:pPr>
            <a:r>
              <a:rPr lang="en-US" sz="5330" b="1">
                <a:solidFill>
                  <a:srgbClr val="0F148D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OpenStreetMap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3092" y="612775"/>
            <a:ext cx="12056639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algn="l">
              <a:lnSpc>
                <a:spcPts val="6350"/>
              </a:lnSpc>
            </a:pP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3.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시스템</a:t>
            </a: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설계</a:t>
            </a: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-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시스템</a:t>
            </a: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구축</a:t>
            </a:r>
            <a:r>
              <a:rPr lang="en-US" sz="5000" dirty="0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</a:t>
            </a:r>
            <a:r>
              <a:rPr lang="en-US" sz="5000" dirty="0" err="1">
                <a:solidFill>
                  <a:srgbClr val="0F148D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환경</a:t>
            </a:r>
            <a:endParaRPr lang="en-US" sz="5000" dirty="0">
              <a:solidFill>
                <a:srgbClr val="0F148D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1715</Words>
  <Application>Microsoft Office PowerPoint</Application>
  <PresentationFormat>사용자 지정</PresentationFormat>
  <Paragraphs>219</Paragraphs>
  <Slides>18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30" baseType="lpstr">
      <vt:lpstr>210 네버랜드 Bold</vt:lpstr>
      <vt:lpstr>TT Commons Pro Bold</vt:lpstr>
      <vt:lpstr>Source Han Sans KR</vt:lpstr>
      <vt:lpstr>Arimo</vt:lpstr>
      <vt:lpstr>Tlab 레트로라이프 Bold</vt:lpstr>
      <vt:lpstr>210 밀레니얼</vt:lpstr>
      <vt:lpstr>Arimo Bold</vt:lpstr>
      <vt:lpstr>Arial</vt:lpstr>
      <vt:lpstr>Calibri</vt:lpstr>
      <vt:lpstr>Canva Sans Bold</vt:lpstr>
      <vt:lpstr>Tlab 레트로라이프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숭실한장 1차 ppt</dc:title>
  <dc:creator>user</dc:creator>
  <cp:lastModifiedBy>주은우</cp:lastModifiedBy>
  <cp:revision>3</cp:revision>
  <dcterms:created xsi:type="dcterms:W3CDTF">2006-08-16T00:00:00Z</dcterms:created>
  <dcterms:modified xsi:type="dcterms:W3CDTF">2026-10-21T01:11:40Z</dcterms:modified>
  <dc:identifier>DAHWpnUjDzI</dc:identifier>
</cp:coreProperties>
</file>